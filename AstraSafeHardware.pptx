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11.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10.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0.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5143500" cy="9144000"/>
  <p:defaultTextStyle>
    <a:defPPr lvl="0"/>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Astra Safe. This presentation explains the HARDWARE of our safety belt prototype. Key terms: IoT (Internet of Things) means everyday devices with electronics that can sense and exchange data. ESP32-C3 SuperMini is a small microcontroller board, i.e. a tiny computer on one chip. GPS is the Global Positioning System, which tells a receiver its location. The SOS button is a hidden push button for emergency input. In this prototype the board talks to a computer through a USB cable. The illustration is only a concept picture of a person wearing the belt with a concealed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in danger, taking out a phone, unlocking it and opening an app costs precious time. Our idea is a dedicated button that is hidden on the belt. Motion: an MPU6050 sensor measures acceleration and rotation so the program can detect a fall. Microcontroller: a small chip-sized computer that reads inputs and runs a program. GPS gives latitude and longitude, which are the numbers that describe a place on Earth. USB (Universal Serial Bus) is the cable link used here to move data to a computer. Note: this prototype does not send alerts to contacts by itself; it only transfers data to a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ESP32-C3 SuperMini: the controller. Microcontroller means a small programmable chip that reads inputs and controls outputs. 2) GPS module: a receiver that listens to satellites and computes latitude and longitude. 3) MPU6050: a motion sensor with an accelerometer (measures acceleration) and a gyroscope (measures rotation); the program can use its readings to detect a fall. 4) SOS push button: a simple switch; pressing it completes an electrical connection which the board can sense. 5) USB cable: carries data between board and computer, and may supply power to the development board while connected. Pictures are simplified drawings, not exact product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microcontroller is a small computer with processor, memory and pins in one chip. Input pin: the board listens for a signal, for example the button being pressed. Output pin: the board drives a signal out. GPIO stands for General-Purpose Input/Output: pins that can be set as either. UART is a simple two-wire serial link (TX transmit, RX receive) used to talk to the GPS module. The board also has a USB port, which links it to the computer. Exact pin numbers depend on the board wiring and are confirmed during assembly.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GPS stands for Global Positioning System. Satellites continuously broadcast signals; the GPS module measures them and calculates where it is. Latitude tells how far north or south, longitude how far east or west, both in degrees. The sample numbers on the slide are ILLUSTRATIVE only, not real readings from our module. Important: GPS only finds location. It does not send messages to anyone. It may take time to get a first fix, and it depends on a clear view of the sky, so we do not claim exact accuracy or guaranteed indoor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digital input has only two states: HIGH (1) or LOW (0). We use the board's internal pull-up resistor, which gently holds the pin HIGH when the button is not pressed. When the button is pressed, it connects the pin to ground (GND, 0 volts) so the pin reads LOW. The ESP32-C3 program checks the pin and treats LOW as an SOS press. Pull-up resistor: a resistor that pulls a pin to the supply voltage so it never floats. The button itself does not send any alert; it only gives the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wiring plan. The exact GPIO numbers and the GPS model are placeholders (TBC = to be confirmed) and will be fixed from the actual board and module. Button: one side to a GPIO pin, the other side to GND; the pin uses the internal pull-up so pressing gives LOW. GPS: power and ground, then UART. UART is a two-wire serial link and the lines cross: the GPS module's TX (transmit) goes to the ESP32's RX (receive), and the ESP32's TX goes to the GPS module's RX. Voltage levels: the ESP32-C3 works at 3.3 volts, so the GPS signals must also be 3.3 V logic; if a module uses 5 V logic a level shifter is needed. The MPU6050 is a motion sensor (accelerometer plus gyroscope) used for fall detection. It talks to the ESP32-C3 over I2C, a two-wire bus: SDA is the data line and SCL is the clock line. It is powered from 3V3 and GND, and the SDA/SCL GPIO pins are to be confirmed. USB connects the board to the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1) The user presses the hidden button. 2) The ESP32-C3 detects it through its input pin. 3) It reads GPS data from the module over UART. 4) The program processes the coordinates, meaning it picks out latitude and longitude from the GPS text. 5) The result is transferred to the computer through USB. Notes: a GPS fix (first position) can take time, especially at start-up, and needs satellite reception. Combining button and GPS data into one result is something our program does; hardware alone does not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USB means Universal Serial Bus. It is the cable you use for a phone or keyboard. Here it carries serial data, which is simply text or numbers sent one after another, from the ESP32-C3 to the laptop. On the laptop a serial monitor (a program that shows incoming serial text) can display it. USB is the only data-transfer method in our prototype today. We do not claim that a web backend receives this data automatically; that needs extra software and is future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Benefits: the dedicated button is fast, GPS gives location, USB is simple for testing, and the microcontroller design is compact. Limitations: it needs a computer on USB; GPS needs satellite visibility; and USB alone cannot notify anyone remotely. Future scope means ideas NOT yet built: an independent power source, a communication method for remote notification, a secure dashboard with trusted-contact notification, and a better enclosure. None of the future items are claimed as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keep the four roles separate. The SOS button gives the emergency input. The GPS module acquires location. The MPU6050 senses motion so the program can detect a fall. The ESP32-C3 coordinates, meaning it reads the inputs and runs the program. USB transfers the data to a computer. Together they are the hardware foundation of the prototype. Sending alerts to trusted contacts is future scope and is not claimed as working.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 Id="rId7" Type="http://schemas.openxmlformats.org/officeDocument/2006/relationships/image" Target="../media/image-3-5.png"/></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3A89E"/>
          </a:solidFill>
          <a:ln w="9525">
            <a:solidFill>
              <a:srgbClr val="13A89E"/>
            </a:solidFill>
            <a:prstDash val="solid"/>
          </a:ln>
        </p:spPr>
      </p:sp>
      <p:sp>
        <p:nvSpPr>
          <p:cNvPr id="3" name="Text 1"/>
          <p:cNvSpPr txBox="1"/>
          <p:nvPr/>
        </p:nvSpPr>
        <p:spPr>
          <a:xfrm>
            <a:off x="640080" y="274320"/>
            <a:ext cx="4572000" cy="457200"/>
          </a:xfrm>
          <a:prstGeom prst="rect">
            <a:avLst/>
          </a:prstGeom>
          <a:noFill/>
          <a:ln/>
        </p:spPr>
        <p:txBody>
          <a:bodyPr wrap="square" lIns="0" tIns="0" rIns="0" bIns="0" rtlCol="0" anchor="t"/>
          <a:lstStyle/>
          <a:p>
            <a:pPr indent="0" marL="0">
              <a:buNone/>
            </a:pPr>
            <a:r>
              <a:rPr lang="en-US" sz="2600" b="1" u="sng" spc="400" kern="0" dirty="0">
                <a:solidFill>
                  <a:srgbClr val="FFFFFF"/>
                </a:solidFill>
                <a:uFill>
                  <a:solidFill>
                    <a:srgbClr val="13A89E"/>
                  </a:solidFill>
                </a:uFill>
                <a:latin typeface="Times New Roman" pitchFamily="34" charset="0"/>
                <a:ea typeface="Times New Roman" pitchFamily="34" charset="-122"/>
                <a:cs typeface="Times New Roman" pitchFamily="34" charset="-120"/>
              </a:rPr>
              <a:t>ASTRA</a:t>
            </a:r>
            <a:pPr indent="0" marL="0">
              <a:buNone/>
            </a:pPr>
            <a:r>
              <a:rPr lang="en-US" sz="2600" b="1" spc="400" kern="0" dirty="0">
                <a:solidFill>
                  <a:srgbClr val="FFFFFF"/>
                </a:solidFill>
                <a:latin typeface="Times New Roman" pitchFamily="34" charset="0"/>
                <a:ea typeface="Times New Roman" pitchFamily="34" charset="-122"/>
                <a:cs typeface="Times New Roman" pitchFamily="34" charset="-120"/>
              </a:rPr>
              <a:t>  </a:t>
            </a:r>
            <a:pPr indent="0" marL="0">
              <a:buNone/>
            </a:pPr>
            <a:r>
              <a:rPr lang="en-US" sz="2600" b="1" u="sng" spc="400" kern="0" dirty="0">
                <a:solidFill>
                  <a:srgbClr val="FFFFFF"/>
                </a:solidFill>
                <a:uFill>
                  <a:solidFill>
                    <a:srgbClr val="13A89E"/>
                  </a:solidFill>
                </a:uFill>
                <a:latin typeface="Times New Roman" pitchFamily="34" charset="0"/>
                <a:ea typeface="Times New Roman" pitchFamily="34" charset="-122"/>
                <a:cs typeface="Times New Roman" pitchFamily="34" charset="-120"/>
              </a:rPr>
              <a:t>SAFE</a:t>
            </a:r>
            <a:endParaRPr lang="en-US" sz="2600" dirty="0"/>
          </a:p>
        </p:txBody>
      </p:sp>
      <p:sp>
        <p:nvSpPr>
          <p:cNvPr id="4" name="Text 2"/>
          <p:cNvSpPr txBox="1"/>
          <p:nvPr/>
        </p:nvSpPr>
        <p:spPr>
          <a:xfrm>
            <a:off x="640080" y="1188720"/>
            <a:ext cx="4572000" cy="1371600"/>
          </a:xfrm>
          <a:prstGeom prst="rect">
            <a:avLst/>
          </a:prstGeom>
          <a:noFill/>
          <a:ln/>
        </p:spPr>
        <p:txBody>
          <a:bodyPr wrap="square" lIns="0" tIns="0" rIns="0" bIns="0" rtlCol="0" anchor="t"/>
          <a:lstStyle/>
          <a:p>
            <a:pPr indent="0" marL="0">
              <a:buNone/>
            </a:pPr>
            <a:r>
              <a:rPr lang="en-US" sz="3400" b="1" dirty="0">
                <a:solidFill>
                  <a:srgbClr val="FFFFFF"/>
                </a:solidFill>
                <a:latin typeface="Times New Roman" pitchFamily="34" charset="0"/>
                <a:ea typeface="Times New Roman" pitchFamily="34" charset="-122"/>
                <a:cs typeface="Times New Roman" pitchFamily="34" charset="-120"/>
              </a:rPr>
              <a:t>IoT-Based Smart Women’s Safety Belt</a:t>
            </a:r>
            <a:endParaRPr lang="en-US" sz="3400" dirty="0"/>
          </a:p>
        </p:txBody>
      </p:sp>
      <p:sp>
        <p:nvSpPr>
          <p:cNvPr id="5" name="Text 3"/>
          <p:cNvSpPr txBox="1"/>
          <p:nvPr/>
        </p:nvSpPr>
        <p:spPr>
          <a:xfrm>
            <a:off x="640080" y="2606040"/>
            <a:ext cx="4572000" cy="365760"/>
          </a:xfrm>
          <a:prstGeom prst="rect">
            <a:avLst/>
          </a:prstGeom>
          <a:noFill/>
          <a:ln/>
        </p:spPr>
        <p:txBody>
          <a:bodyPr wrap="square" lIns="0" tIns="0" rIns="0" bIns="0" rtlCol="0" anchor="t"/>
          <a:lstStyle/>
          <a:p>
            <a:pPr indent="0" marL="0">
              <a:buNone/>
            </a:pPr>
            <a:r>
              <a:rPr lang="en-US" sz="1800" dirty="0">
                <a:solidFill>
                  <a:srgbClr val="BFD3EA"/>
                </a:solidFill>
                <a:latin typeface="Times New Roman" pitchFamily="34" charset="0"/>
                <a:ea typeface="Times New Roman" pitchFamily="34" charset="-122"/>
                <a:cs typeface="Times New Roman" pitchFamily="34" charset="-120"/>
              </a:rPr>
              <a:t>Hardware Implementation</a:t>
            </a:r>
            <a:endParaRPr lang="en-US" sz="1800" dirty="0"/>
          </a:p>
        </p:txBody>
      </p:sp>
      <p:sp>
        <p:nvSpPr>
          <p:cNvPr id="501" name="Shape 4"/>
          <p:cNvSpPr/>
          <p:nvPr/>
        </p:nvSpPr>
        <p:spPr>
          <a:xfrm>
            <a:off x="640080" y="3383280"/>
            <a:ext cx="1371600" cy="384048"/>
          </a:xfrm>
          <a:prstGeom prst="roundRect">
            <a:avLst>
              <a:gd name="adj" fmla="val 19048"/>
            </a:avLst>
          </a:prstGeom>
          <a:solidFill>
            <a:srgbClr val="2B4C7E"/>
          </a:solidFill>
          <a:ln w="9525">
            <a:solidFill>
              <a:srgbClr val="13A89E"/>
            </a:solidFill>
            <a:prstDash val="solid"/>
          </a:ln>
        </p:spPr>
      </p:sp>
      <p:sp>
        <p:nvSpPr>
          <p:cNvPr id="502" name="Text 5"/>
          <p:cNvSpPr txBox="1"/>
          <p:nvPr/>
        </p:nvSpPr>
        <p:spPr>
          <a:xfrm>
            <a:off x="640080" y="3383280"/>
            <a:ext cx="13716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ESP32-C3 SuperMini</a:t>
            </a:r>
            <a:endParaRPr lang="en-US" sz="1100" dirty="0"/>
          </a:p>
        </p:txBody>
      </p:sp>
      <p:sp>
        <p:nvSpPr>
          <p:cNvPr id="503" name="Shape 6"/>
          <p:cNvSpPr/>
          <p:nvPr/>
        </p:nvSpPr>
        <p:spPr>
          <a:xfrm>
            <a:off x="2103120" y="3383280"/>
            <a:ext cx="914400" cy="384048"/>
          </a:xfrm>
          <a:prstGeom prst="roundRect">
            <a:avLst>
              <a:gd name="adj" fmla="val 19048"/>
            </a:avLst>
          </a:prstGeom>
          <a:solidFill>
            <a:srgbClr val="2B4C7E"/>
          </a:solidFill>
          <a:ln w="9525">
            <a:solidFill>
              <a:srgbClr val="13A89E"/>
            </a:solidFill>
            <a:prstDash val="solid"/>
          </a:ln>
        </p:spPr>
      </p:sp>
      <p:sp>
        <p:nvSpPr>
          <p:cNvPr id="504" name="Text 7"/>
          <p:cNvSpPr txBox="1"/>
          <p:nvPr/>
        </p:nvSpPr>
        <p:spPr>
          <a:xfrm>
            <a:off x="2103120" y="3383280"/>
            <a:ext cx="9144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GPS Module</a:t>
            </a:r>
            <a:endParaRPr lang="en-US" sz="1100" dirty="0"/>
          </a:p>
        </p:txBody>
      </p:sp>
      <p:sp>
        <p:nvSpPr>
          <p:cNvPr id="505" name="Shape 6"/>
          <p:cNvSpPr/>
          <p:nvPr/>
        </p:nvSpPr>
        <p:spPr>
          <a:xfrm>
            <a:off x="3108960" y="3383280"/>
            <a:ext cx="1051560" cy="384048"/>
          </a:xfrm>
          <a:prstGeom prst="roundRect">
            <a:avLst>
              <a:gd name="adj" fmla="val 19048"/>
            </a:avLst>
          </a:prstGeom>
          <a:solidFill>
            <a:srgbClr val="2B4C7E"/>
          </a:solidFill>
          <a:ln w="9525">
            <a:solidFill>
              <a:srgbClr val="13A89E"/>
            </a:solidFill>
            <a:prstDash val="solid"/>
          </a:ln>
        </p:spPr>
      </p:sp>
      <p:sp>
        <p:nvSpPr>
          <p:cNvPr id="506" name="Text 7"/>
          <p:cNvSpPr txBox="1"/>
          <p:nvPr/>
        </p:nvSpPr>
        <p:spPr>
          <a:xfrm>
            <a:off x="3108960" y="3383280"/>
            <a:ext cx="105156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MPU6050</a:t>
            </a:r>
            <a:endParaRPr lang="en-US" sz="1100" dirty="0"/>
          </a:p>
        </p:txBody>
      </p:sp>
      <p:sp>
        <p:nvSpPr>
          <p:cNvPr id="507" name="Shape 8"/>
          <p:cNvSpPr/>
          <p:nvPr/>
        </p:nvSpPr>
        <p:spPr>
          <a:xfrm>
            <a:off x="4251960" y="3383280"/>
            <a:ext cx="960120" cy="384048"/>
          </a:xfrm>
          <a:prstGeom prst="roundRect">
            <a:avLst>
              <a:gd name="adj" fmla="val 19048"/>
            </a:avLst>
          </a:prstGeom>
          <a:solidFill>
            <a:srgbClr val="2B4C7E"/>
          </a:solidFill>
          <a:ln w="9525">
            <a:solidFill>
              <a:srgbClr val="13A89E"/>
            </a:solidFill>
            <a:prstDash val="solid"/>
          </a:ln>
        </p:spPr>
      </p:sp>
      <p:sp>
        <p:nvSpPr>
          <p:cNvPr id="508" name="Text 9"/>
          <p:cNvSpPr txBox="1"/>
          <p:nvPr/>
        </p:nvSpPr>
        <p:spPr>
          <a:xfrm>
            <a:off x="4251960" y="3383280"/>
            <a:ext cx="96012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SOS Button</a:t>
            </a:r>
            <a:endParaRPr lang="en-US" sz="1100" dirty="0"/>
          </a:p>
        </p:txBody>
      </p:sp>
      <p:sp>
        <p:nvSpPr>
          <p:cNvPr id="12" name="Text 10"/>
          <p:cNvSpPr txBox="1"/>
          <p:nvPr/>
        </p:nvSpPr>
        <p:spPr>
          <a:xfrm>
            <a:off x="640080" y="3977640"/>
            <a:ext cx="5029200" cy="274320"/>
          </a:xfrm>
          <a:prstGeom prst="rect">
            <a:avLst/>
          </a:prstGeom>
          <a:noFill/>
          <a:ln/>
        </p:spPr>
        <p:txBody>
          <a:bodyPr wrap="square" lIns="0" tIns="0" rIns="0" bIns="0" rtlCol="0" anchor="t"/>
          <a:lstStyle/>
          <a:p>
            <a:pPr indent="0" marL="0">
              <a:buNone/>
            </a:pPr>
            <a:r>
              <a:rPr lang="en-US" sz="1200" dirty="0">
                <a:solidFill>
                  <a:srgbClr val="BFD3EA"/>
                </a:solidFill>
                <a:latin typeface="Times New Roman" pitchFamily="34" charset="0"/>
                <a:ea typeface="Times New Roman" pitchFamily="34" charset="-122"/>
                <a:cs typeface="Times New Roman" pitchFamily="34" charset="-120"/>
              </a:rPr>
              <a:t>Prototype connected to a computer over USB</a:t>
            </a:r>
            <a:endParaRPr lang="en-US" sz="1200" dirty="0"/>
          </a:p>
        </p:txBody>
      </p:sp>
      <p:sp>
        <p:nvSpPr>
          <p:cNvPr id="13" name="Shape 11"/>
          <p:cNvSpPr/>
          <p:nvPr/>
        </p:nvSpPr>
        <p:spPr>
          <a:xfrm>
            <a:off x="5394960" y="1188720"/>
            <a:ext cx="3383280" cy="2926080"/>
          </a:xfrm>
          <a:prstGeom prst="roundRect">
            <a:avLst>
              <a:gd name="adj" fmla="val 2500"/>
            </a:avLst>
          </a:prstGeom>
          <a:solidFill>
            <a:srgbClr val="102F57"/>
          </a:solidFill>
          <a:ln w="9525">
            <a:solidFill>
              <a:srgbClr val="1F4A7F"/>
            </a:solidFill>
            <a:prstDash val="solid"/>
          </a:ln>
        </p:spPr>
      </p:sp>
      <p:sp>
        <p:nvSpPr>
          <p:cNvPr id="14" name="Shape 12"/>
          <p:cNvSpPr/>
          <p:nvPr/>
        </p:nvSpPr>
        <p:spPr>
          <a:xfrm>
            <a:off x="5532120" y="1371600"/>
            <a:ext cx="2286000" cy="2286000"/>
          </a:xfrm>
          <a:prstGeom prst="ellipse">
            <a:avLst/>
          </a:prstGeom>
          <a:solidFill>
            <a:srgbClr val="16407A"/>
          </a:solidFill>
          <a:ln w="12700">
            <a:solidFill>
              <a:srgbClr val="1F4A7F"/>
            </a:solidFill>
            <a:prstDash val="solid"/>
          </a:ln>
        </p:spPr>
      </p:sp>
      <p:pic>
        <p:nvPicPr>
          <p:cNvPr id="15" name="Image 0" descr="human 3D illustration">    </p:cNvPr>
          <p:cNvPicPr>
            <a:picLocks noChangeAspect="1"/>
          </p:cNvPicPr>
          <p:nvPr/>
        </p:nvPicPr>
        <p:blipFill>
          <a:blip r:embed="rId1"/>
          <a:stretch>
            <a:fillRect/>
          </a:stretch>
        </p:blipFill>
        <p:spPr>
          <a:xfrm>
            <a:off x="6235520" y="1330452"/>
            <a:ext cx="879200" cy="2423160"/>
          </a:xfrm>
          <a:prstGeom prst="rect">
            <a:avLst/>
          </a:prstGeom>
        </p:spPr>
      </p:pic>
      <p:sp>
        <p:nvSpPr>
          <p:cNvPr id="16" name="Shape 13"/>
          <p:cNvSpPr/>
          <p:nvPr/>
        </p:nvSpPr>
        <p:spPr>
          <a:xfrm>
            <a:off x="6745319" y="2576221"/>
            <a:ext cx="73152" cy="73152"/>
          </a:xfrm>
          <a:prstGeom prst="ellipse">
            <a:avLst/>
          </a:prstGeom>
          <a:solidFill>
            <a:srgbClr val="13A89E"/>
          </a:solidFill>
          <a:ln w="12700">
            <a:solidFill>
              <a:srgbClr val="FFFFFF"/>
            </a:solidFill>
            <a:prstDash val="solid"/>
          </a:ln>
        </p:spPr>
      </p:sp>
      <p:sp>
        <p:nvSpPr>
          <p:cNvPr id="17" name="Shape 14"/>
          <p:cNvSpPr/>
          <p:nvPr/>
        </p:nvSpPr>
        <p:spPr>
          <a:xfrm>
            <a:off x="6818471" y="2612797"/>
            <a:ext cx="999649" cy="0"/>
          </a:xfrm>
          <a:prstGeom prst="line">
            <a:avLst/>
          </a:prstGeom>
          <a:noFill/>
          <a:ln w="15875">
            <a:solidFill>
              <a:srgbClr val="13A89E"/>
            </a:solidFill>
            <a:prstDash val="solid"/>
          </a:ln>
        </p:spPr>
      </p:sp>
      <p:sp>
        <p:nvSpPr>
          <p:cNvPr id="18" name="Text 15"/>
          <p:cNvSpPr txBox="1"/>
          <p:nvPr/>
        </p:nvSpPr>
        <p:spPr>
          <a:xfrm>
            <a:off x="7863840" y="2429917"/>
            <a:ext cx="914400" cy="365760"/>
          </a:xfrm>
          <a:prstGeom prst="rect">
            <a:avLst/>
          </a:prstGeom>
          <a:noFill/>
          <a:ln/>
        </p:spPr>
        <p:txBody>
          <a:bodyPr wrap="square" lIns="0" tIns="0" rIns="0" bIns="0" rtlCol="0" anchor="t"/>
          <a:lstStyle/>
          <a:p>
            <a:pPr indent="0" marL="0">
              <a:buNone/>
            </a:pPr>
            <a:r>
              <a:rPr lang="en-US" sz="1100" b="1" dirty="0">
                <a:solidFill>
                  <a:srgbClr val="13A89E"/>
                </a:solidFill>
                <a:latin typeface="Times New Roman" pitchFamily="34" charset="0"/>
                <a:ea typeface="Times New Roman" pitchFamily="34" charset="-122"/>
                <a:cs typeface="Times New Roman" pitchFamily="34" charset="-120"/>
              </a:rPr>
              <a:t>Concealed</a:t>
            </a:r>
            <a:endParaRPr lang="en-US" sz="1100" dirty="0"/>
          </a:p>
          <a:p>
            <a:pPr indent="0" marL="0">
              <a:buNone/>
            </a:pPr>
            <a:r>
              <a:rPr lang="en-US" sz="1100" b="1" dirty="0">
                <a:solidFill>
                  <a:srgbClr val="13A89E"/>
                </a:solidFill>
                <a:latin typeface="Times New Roman" pitchFamily="34" charset="0"/>
                <a:ea typeface="Times New Roman" pitchFamily="34" charset="-122"/>
                <a:cs typeface="Times New Roman" pitchFamily="34" charset="-120"/>
              </a:rPr>
              <a:t>SOS button</a:t>
            </a:r>
            <a:endParaRPr lang="en-US" sz="1100" dirty="0"/>
          </a:p>
        </p:txBody>
      </p:sp>
      <p:sp>
        <p:nvSpPr>
          <p:cNvPr id="19" name="Text 16"/>
          <p:cNvSpPr txBox="1"/>
          <p:nvPr/>
        </p:nvSpPr>
        <p:spPr>
          <a:xfrm>
            <a:off x="5394960" y="3840480"/>
            <a:ext cx="3383280" cy="274320"/>
          </a:xfrm>
          <a:prstGeom prst="rect">
            <a:avLst/>
          </a:prstGeom>
          <a:noFill/>
          <a:ln/>
        </p:spPr>
        <p:txBody>
          <a:bodyPr wrap="square" lIns="0" tIns="0" rIns="0" bIns="0" rtlCol="0" anchor="t"/>
          <a:lstStyle/>
          <a:p>
            <a:pPr algn="ctr" indent="0" marL="0">
              <a:buNone/>
            </a:pPr>
            <a:r>
              <a:rPr lang="en-US" sz="1050" dirty="0">
                <a:solidFill>
                  <a:srgbClr val="BFD3EA"/>
                </a:solidFill>
                <a:latin typeface="Times New Roman" pitchFamily="34" charset="0"/>
                <a:ea typeface="Times New Roman" pitchFamily="34" charset="-122"/>
                <a:cs typeface="Times New Roman" pitchFamily="34" charset="-120"/>
              </a:rPr>
              <a:t>Illustration: user wearing the safety belt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3A89E"/>
          </a:solidFill>
          <a:ln w="9525">
            <a:solidFill>
              <a:srgbClr val="13A89E"/>
            </a:solidFill>
            <a:prstDash val="solid"/>
          </a:ln>
        </p:spPr>
      </p:sp>
      <p:sp>
        <p:nvSpPr>
          <p:cNvPr id="3" name="Text 1"/>
          <p:cNvSpPr txBox="1"/>
          <p:nvPr/>
        </p:nvSpPr>
        <p:spPr>
          <a:xfrm>
            <a:off x="457200" y="228600"/>
            <a:ext cx="8229600" cy="457200"/>
          </a:xfrm>
          <a:prstGeom prst="rect">
            <a:avLst/>
          </a:prstGeom>
          <a:noFill/>
          <a:ln/>
        </p:spPr>
        <p:txBody>
          <a:bodyPr wrap="square" lIns="0" tIns="0" rIns="0" bIns="0" rtlCol="0" anchor="ctr"/>
          <a:lstStyle/>
          <a:p>
            <a:pPr indent="0" marL="0">
              <a:buNone/>
            </a:pPr>
            <a:r>
              <a:rPr lang="en-US" sz="2400" b="1" dirty="0">
                <a:solidFill>
                  <a:srgbClr val="0B2545"/>
                </a:solidFill>
                <a:latin typeface="Times New Roman" pitchFamily="34" charset="0"/>
                <a:ea typeface="Times New Roman" pitchFamily="34" charset="-122"/>
                <a:cs typeface="Times New Roman" pitchFamily="34" charset="-120"/>
              </a:rPr>
              <a:t>Project Overview</a:t>
            </a:r>
            <a:endParaRPr lang="en-US" sz="2400" dirty="0"/>
          </a:p>
        </p:txBody>
      </p:sp>
      <p:sp>
        <p:nvSpPr>
          <p:cNvPr id="4" name="Text 2"/>
          <p:cNvSpPr txBox="1"/>
          <p:nvPr/>
        </p:nvSpPr>
        <p:spPr>
          <a:xfrm>
            <a:off x="457200" y="685800"/>
            <a:ext cx="8229600" cy="274320"/>
          </a:xfrm>
          <a:prstGeom prst="rect">
            <a:avLst/>
          </a:prstGeom>
          <a:noFill/>
          <a:ln/>
        </p:spPr>
        <p:txBody>
          <a:bodyPr wrap="square" lIns="0" tIns="0" rIns="0" bIns="0" rtlCol="0" anchor="t"/>
          <a:lstStyle/>
          <a:p>
            <a:pPr indent="0" marL="0">
              <a:buNone/>
            </a:pPr>
            <a:r>
              <a:rPr lang="en-US" sz="1400" dirty="0">
                <a:solidFill>
                  <a:srgbClr val="64748B"/>
                </a:solidFill>
                <a:latin typeface="Times New Roman" pitchFamily="34" charset="0"/>
                <a:ea typeface="Times New Roman" pitchFamily="34" charset="-122"/>
                <a:cs typeface="Times New Roman" pitchFamily="34" charset="-120"/>
              </a:rPr>
              <a:t>Why a hidden SOS button, and what this prototype does</a:t>
            </a:r>
            <a:endParaRPr lang="en-US" sz="1400" dirty="0"/>
          </a:p>
        </p:txBody>
      </p:sp>
      <p:sp>
        <p:nvSpPr>
          <p:cNvPr id="5" name="Text 3"/>
          <p:cNvSpPr txBox="1"/>
          <p:nvPr/>
        </p:nvSpPr>
        <p:spPr>
          <a:xfrm>
            <a:off x="457200" y="4828032"/>
            <a:ext cx="6400800" cy="228600"/>
          </a:xfrm>
          <a:prstGeom prst="rect">
            <a:avLst/>
          </a:prstGeom>
          <a:noFill/>
          <a:ln/>
        </p:spPr>
        <p:txBody>
          <a:bodyPr wrap="square" lIns="0" tIns="0" rIns="0" bIns="0" rtlCol="0" anchor="t"/>
          <a:lstStyle/>
          <a:p>
            <a:pPr indent="0" marL="0">
              <a:buNone/>
            </a:pPr>
            <a:r>
              <a:rPr lang="en-US" sz="900" dirty="0">
                <a:solidFill>
                  <a:srgbClr val="64748B"/>
                </a:solidFill>
                <a:latin typeface="Times New Roman" pitchFamily="34" charset="0"/>
                <a:ea typeface="Times New Roman" pitchFamily="34" charset="-122"/>
                <a:cs typeface="Times New Roman" pitchFamily="34" charset="-120"/>
              </a:rPr>
              <a:t>IoT-Based Smart Women’s Safety Belt  |  Hardware Implementation</a:t>
            </a:r>
            <a:endParaRPr lang="en-US" sz="900" dirty="0"/>
          </a:p>
        </p:txBody>
      </p:sp>
      <p:sp>
        <p:nvSpPr>
          <p:cNvPr id="6" name="Text 4"/>
          <p:cNvSpPr txBox="1"/>
          <p:nvPr/>
        </p:nvSpPr>
        <p:spPr>
          <a:xfrm>
            <a:off x="8229600" y="4828032"/>
            <a:ext cx="457200" cy="228600"/>
          </a:xfrm>
          <a:prstGeom prst="rect">
            <a:avLst/>
          </a:prstGeom>
          <a:noFill/>
          <a:ln/>
        </p:spPr>
        <p:txBody>
          <a:bodyPr wrap="square" lIns="0" tIns="0" rIns="0" bIns="0" rtlCol="0" anchor="t"/>
          <a:lstStyle/>
          <a:p>
            <a:pPr algn="r" indent="0" marL="0">
              <a:buNone/>
            </a:pPr>
            <a:r>
              <a:rPr lang="en-US" sz="900" dirty="0">
                <a:solidFill>
                  <a:srgbClr val="64748B"/>
                </a:solidFill>
                <a:latin typeface="Times New Roman" pitchFamily="34" charset="0"/>
                <a:ea typeface="Times New Roman" pitchFamily="34" charset="-122"/>
                <a:cs typeface="Times New Roman" pitchFamily="34" charset="-120"/>
              </a:rPr>
              <a:t>2</a:t>
            </a:r>
            <a:endParaRPr lang="en-US" sz="900" dirty="0"/>
          </a:p>
        </p:txBody>
      </p:sp>
      <p:sp>
        <p:nvSpPr>
          <p:cNvPr id="601" name="Shape 5"/>
          <p:cNvSpPr/>
          <p:nvPr/>
        </p:nvSpPr>
        <p:spPr>
          <a:xfrm>
            <a:off x="457200" y="1188720"/>
            <a:ext cx="8229600" cy="502920"/>
          </a:xfrm>
          <a:prstGeom prst="roundRect">
            <a:avLst>
              <a:gd name="adj" fmla="val 12121"/>
            </a:avLst>
          </a:prstGeom>
          <a:solidFill>
            <a:srgbClr val="FFFFFF"/>
          </a:solidFill>
          <a:ln w="9525">
            <a:solidFill>
              <a:srgbClr val="D5DEE8"/>
            </a:solidFill>
            <a:prstDash val="solid"/>
          </a:ln>
        </p:spPr>
      </p:sp>
      <p:sp>
        <p:nvSpPr>
          <p:cNvPr id="602" name="Shape 6"/>
          <p:cNvSpPr/>
          <p:nvPr/>
        </p:nvSpPr>
        <p:spPr>
          <a:xfrm>
            <a:off x="594360" y="1266444"/>
            <a:ext cx="347472" cy="347472"/>
          </a:xfrm>
          <a:prstGeom prst="ellipse">
            <a:avLst/>
          </a:prstGeom>
          <a:solidFill>
            <a:srgbClr val="13A89E"/>
          </a:solidFill>
          <a:ln w="12700">
            <a:solidFill>
              <a:srgbClr val="13A89E"/>
            </a:solidFill>
            <a:prstDash val="solid"/>
          </a:ln>
        </p:spPr>
      </p:sp>
      <p:sp>
        <p:nvSpPr>
          <p:cNvPr id="603" name="Text 7"/>
          <p:cNvSpPr txBox="1"/>
          <p:nvPr/>
        </p:nvSpPr>
        <p:spPr>
          <a:xfrm>
            <a:off x="594360" y="12664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1</a:t>
            </a:r>
            <a:endParaRPr lang="en-US" sz="1300" dirty="0"/>
          </a:p>
        </p:txBody>
      </p:sp>
      <p:sp>
        <p:nvSpPr>
          <p:cNvPr id="604" name="Text 8"/>
          <p:cNvSpPr txBox="1"/>
          <p:nvPr/>
        </p:nvSpPr>
        <p:spPr>
          <a:xfrm>
            <a:off x="1097280" y="1188720"/>
            <a:ext cx="1371600" cy="502920"/>
          </a:xfrm>
          <a:prstGeom prst="rect">
            <a:avLst/>
          </a:prstGeom>
          <a:noFill/>
          <a:ln/>
        </p:spPr>
        <p:txBody>
          <a:bodyPr wrap="square" lIns="0" tIns="0" rIns="0" bIns="0" rtlCol="0" anchor="ctr"/>
          <a:lstStyle/>
          <a:p>
            <a:pPr indent="0" marL="0">
              <a:buNone/>
            </a:pPr>
            <a:r>
              <a:rPr lang="en-US" sz="1400" b="1" dirty="0">
                <a:solidFill>
                  <a:srgbClr val="0B2545"/>
                </a:solidFill>
                <a:latin typeface="Times New Roman" pitchFamily="34" charset="0"/>
                <a:ea typeface="Times New Roman" pitchFamily="34" charset="-122"/>
                <a:cs typeface="Times New Roman" pitchFamily="34" charset="-120"/>
              </a:rPr>
              <a:t>Problem</a:t>
            </a:r>
            <a:endParaRPr lang="en-US" sz="1400" dirty="0"/>
          </a:p>
        </p:txBody>
      </p:sp>
      <p:sp>
        <p:nvSpPr>
          <p:cNvPr id="605" name="Text 9"/>
          <p:cNvSpPr txBox="1"/>
          <p:nvPr/>
        </p:nvSpPr>
        <p:spPr>
          <a:xfrm>
            <a:off x="2468880" y="1188720"/>
            <a:ext cx="6035040" cy="502920"/>
          </a:xfrm>
          <a:prstGeom prst="rect">
            <a:avLst/>
          </a:prstGeom>
          <a:noFill/>
          <a:ln/>
        </p:spPr>
        <p:txBody>
          <a:bodyPr wrap="square" lIns="0" tIns="0" rIns="0" bIns="0" rtlCol="0" anchor="ctr"/>
          <a:lstStyle/>
          <a:p>
            <a:pPr indent="0" marL="0">
              <a:buNone/>
            </a:pPr>
            <a:r>
              <a:rPr lang="en-US" sz="1400" dirty="0">
                <a:solidFill>
                  <a:srgbClr val="1E293B"/>
                </a:solidFill>
                <a:latin typeface="Times New Roman" pitchFamily="34" charset="0"/>
                <a:ea typeface="Times New Roman" pitchFamily="34" charset="-122"/>
                <a:cs typeface="Times New Roman" pitchFamily="34" charset="-120"/>
              </a:rPr>
              <a:t>In an emergency, reaching for and unlocking a phone may be difficult or unsafe.</a:t>
            </a:r>
            <a:endParaRPr lang="en-US" sz="1400" dirty="0"/>
          </a:p>
        </p:txBody>
      </p:sp>
      <p:sp>
        <p:nvSpPr>
          <p:cNvPr id="606" name="Shape 10"/>
          <p:cNvSpPr/>
          <p:nvPr/>
        </p:nvSpPr>
        <p:spPr>
          <a:xfrm>
            <a:off x="457200" y="1783080"/>
            <a:ext cx="8229600" cy="502920"/>
          </a:xfrm>
          <a:prstGeom prst="roundRect">
            <a:avLst>
              <a:gd name="adj" fmla="val 12121"/>
            </a:avLst>
          </a:prstGeom>
          <a:solidFill>
            <a:srgbClr val="FFFFFF"/>
          </a:solidFill>
          <a:ln w="9525">
            <a:solidFill>
              <a:srgbClr val="D5DEE8"/>
            </a:solidFill>
            <a:prstDash val="solid"/>
          </a:ln>
        </p:spPr>
      </p:sp>
      <p:sp>
        <p:nvSpPr>
          <p:cNvPr id="607" name="Shape 11"/>
          <p:cNvSpPr/>
          <p:nvPr/>
        </p:nvSpPr>
        <p:spPr>
          <a:xfrm>
            <a:off x="594360" y="1860804"/>
            <a:ext cx="347472" cy="347472"/>
          </a:xfrm>
          <a:prstGeom prst="ellipse">
            <a:avLst/>
          </a:prstGeom>
          <a:solidFill>
            <a:srgbClr val="13A89E"/>
          </a:solidFill>
          <a:ln w="12700">
            <a:solidFill>
              <a:srgbClr val="13A89E"/>
            </a:solidFill>
            <a:prstDash val="solid"/>
          </a:ln>
        </p:spPr>
      </p:sp>
      <p:sp>
        <p:nvSpPr>
          <p:cNvPr id="608" name="Text 12"/>
          <p:cNvSpPr txBox="1"/>
          <p:nvPr/>
        </p:nvSpPr>
        <p:spPr>
          <a:xfrm>
            <a:off x="594360" y="186080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2</a:t>
            </a:r>
            <a:endParaRPr lang="en-US" sz="1300" dirty="0"/>
          </a:p>
        </p:txBody>
      </p:sp>
      <p:sp>
        <p:nvSpPr>
          <p:cNvPr id="609" name="Text 13"/>
          <p:cNvSpPr txBox="1"/>
          <p:nvPr/>
        </p:nvSpPr>
        <p:spPr>
          <a:xfrm>
            <a:off x="1097280" y="1783080"/>
            <a:ext cx="1371600" cy="502920"/>
          </a:xfrm>
          <a:prstGeom prst="rect">
            <a:avLst/>
          </a:prstGeom>
          <a:noFill/>
          <a:ln/>
        </p:spPr>
        <p:txBody>
          <a:bodyPr wrap="square" lIns="0" tIns="0" rIns="0" bIns="0" rtlCol="0" anchor="ctr"/>
          <a:lstStyle/>
          <a:p>
            <a:pPr indent="0" marL="0">
              <a:buNone/>
            </a:pPr>
            <a:r>
              <a:rPr lang="en-US" sz="1400" b="1" dirty="0">
                <a:solidFill>
                  <a:srgbClr val="0B2545"/>
                </a:solidFill>
                <a:latin typeface="Times New Roman" pitchFamily="34" charset="0"/>
                <a:ea typeface="Times New Roman" pitchFamily="34" charset="-122"/>
                <a:cs typeface="Times New Roman" pitchFamily="34" charset="-120"/>
              </a:rPr>
              <a:t>Idea</a:t>
            </a:r>
            <a:endParaRPr lang="en-US" sz="1400" dirty="0"/>
          </a:p>
        </p:txBody>
      </p:sp>
      <p:sp>
        <p:nvSpPr>
          <p:cNvPr id="610" name="Text 14"/>
          <p:cNvSpPr txBox="1"/>
          <p:nvPr/>
        </p:nvSpPr>
        <p:spPr>
          <a:xfrm>
            <a:off x="2468880" y="1783080"/>
            <a:ext cx="6035040" cy="502920"/>
          </a:xfrm>
          <a:prstGeom prst="rect">
            <a:avLst/>
          </a:prstGeom>
          <a:noFill/>
          <a:ln/>
        </p:spPr>
        <p:txBody>
          <a:bodyPr wrap="square" lIns="0" tIns="0" rIns="0" bIns="0" rtlCol="0" anchor="ctr"/>
          <a:lstStyle/>
          <a:p>
            <a:pPr indent="0" marL="0">
              <a:buNone/>
            </a:pPr>
            <a:r>
              <a:rPr lang="en-US" sz="1400" dirty="0">
                <a:solidFill>
                  <a:srgbClr val="1E293B"/>
                </a:solidFill>
                <a:latin typeface="Times New Roman" pitchFamily="34" charset="0"/>
                <a:ea typeface="Times New Roman" pitchFamily="34" charset="-122"/>
                <a:cs typeface="Times New Roman" pitchFamily="34" charset="-120"/>
              </a:rPr>
              <a:t>A hidden SOS push button on the belt gives a quick, discreet emergency input.</a:t>
            </a:r>
            <a:endParaRPr lang="en-US" sz="1400" dirty="0"/>
          </a:p>
        </p:txBody>
      </p:sp>
      <p:sp>
        <p:nvSpPr>
          <p:cNvPr id="611" name="Shape 15"/>
          <p:cNvSpPr/>
          <p:nvPr/>
        </p:nvSpPr>
        <p:spPr>
          <a:xfrm>
            <a:off x="457200" y="2377440"/>
            <a:ext cx="8229600" cy="502920"/>
          </a:xfrm>
          <a:prstGeom prst="roundRect">
            <a:avLst>
              <a:gd name="adj" fmla="val 12121"/>
            </a:avLst>
          </a:prstGeom>
          <a:solidFill>
            <a:srgbClr val="FFFFFF"/>
          </a:solidFill>
          <a:ln w="9525">
            <a:solidFill>
              <a:srgbClr val="D5DEE8"/>
            </a:solidFill>
            <a:prstDash val="solid"/>
          </a:ln>
        </p:spPr>
      </p:sp>
      <p:sp>
        <p:nvSpPr>
          <p:cNvPr id="612" name="Shape 16"/>
          <p:cNvSpPr/>
          <p:nvPr/>
        </p:nvSpPr>
        <p:spPr>
          <a:xfrm>
            <a:off x="594360" y="2455164"/>
            <a:ext cx="347472" cy="347472"/>
          </a:xfrm>
          <a:prstGeom prst="ellipse">
            <a:avLst/>
          </a:prstGeom>
          <a:solidFill>
            <a:srgbClr val="13A89E"/>
          </a:solidFill>
          <a:ln w="12700">
            <a:solidFill>
              <a:srgbClr val="13A89E"/>
            </a:solidFill>
            <a:prstDash val="solid"/>
          </a:ln>
        </p:spPr>
      </p:sp>
      <p:sp>
        <p:nvSpPr>
          <p:cNvPr id="613" name="Text 17"/>
          <p:cNvSpPr txBox="1"/>
          <p:nvPr/>
        </p:nvSpPr>
        <p:spPr>
          <a:xfrm>
            <a:off x="594360" y="245516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3</a:t>
            </a:r>
            <a:endParaRPr lang="en-US" sz="1300" dirty="0"/>
          </a:p>
        </p:txBody>
      </p:sp>
      <p:sp>
        <p:nvSpPr>
          <p:cNvPr id="614" name="Text 18"/>
          <p:cNvSpPr txBox="1"/>
          <p:nvPr/>
        </p:nvSpPr>
        <p:spPr>
          <a:xfrm>
            <a:off x="1097280" y="2377440"/>
            <a:ext cx="1371600" cy="502920"/>
          </a:xfrm>
          <a:prstGeom prst="rect">
            <a:avLst/>
          </a:prstGeom>
          <a:noFill/>
          <a:ln/>
        </p:spPr>
        <p:txBody>
          <a:bodyPr wrap="square" lIns="0" tIns="0" rIns="0" bIns="0" rtlCol="0" anchor="ctr"/>
          <a:lstStyle/>
          <a:p>
            <a:pPr indent="0" marL="0">
              <a:buNone/>
            </a:pPr>
            <a:r>
              <a:rPr lang="en-US" sz="1400" b="1" dirty="0">
                <a:solidFill>
                  <a:srgbClr val="0B2545"/>
                </a:solidFill>
                <a:latin typeface="Times New Roman" pitchFamily="34" charset="0"/>
                <a:ea typeface="Times New Roman" pitchFamily="34" charset="-122"/>
                <a:cs typeface="Times New Roman" pitchFamily="34" charset="-120"/>
              </a:rPr>
              <a:t>Detection</a:t>
            </a:r>
            <a:endParaRPr lang="en-US" sz="1400" dirty="0"/>
          </a:p>
        </p:txBody>
      </p:sp>
      <p:sp>
        <p:nvSpPr>
          <p:cNvPr id="615" name="Text 19"/>
          <p:cNvSpPr txBox="1"/>
          <p:nvPr/>
        </p:nvSpPr>
        <p:spPr>
          <a:xfrm>
            <a:off x="2468880" y="2377440"/>
            <a:ext cx="6035040" cy="502920"/>
          </a:xfrm>
          <a:prstGeom prst="rect">
            <a:avLst/>
          </a:prstGeom>
          <a:noFill/>
          <a:ln/>
        </p:spPr>
        <p:txBody>
          <a:bodyPr wrap="square" lIns="0" tIns="0" rIns="0" bIns="0" rtlCol="0" anchor="ctr"/>
          <a:lstStyle/>
          <a:p>
            <a:pPr indent="0" marL="0">
              <a:buNone/>
            </a:pPr>
            <a:r>
              <a:rPr lang="en-US" sz="1400" dirty="0">
                <a:solidFill>
                  <a:srgbClr val="1E293B"/>
                </a:solidFill>
                <a:latin typeface="Times New Roman" pitchFamily="34" charset="0"/>
                <a:ea typeface="Times New Roman" pitchFamily="34" charset="-122"/>
                <a:cs typeface="Times New Roman" pitchFamily="34" charset="-120"/>
              </a:rPr>
              <a:t>The ESP32-C3 microcontroller detects when the SOS button is pressed.</a:t>
            </a:r>
            <a:endParaRPr lang="en-US" sz="1400" dirty="0"/>
          </a:p>
        </p:txBody>
      </p:sp>
      <p:sp>
        <p:nvSpPr>
          <p:cNvPr id="616" name="Shape 20"/>
          <p:cNvSpPr/>
          <p:nvPr/>
        </p:nvSpPr>
        <p:spPr>
          <a:xfrm>
            <a:off x="457200" y="2971800"/>
            <a:ext cx="8229600" cy="502920"/>
          </a:xfrm>
          <a:prstGeom prst="roundRect">
            <a:avLst>
              <a:gd name="adj" fmla="val 12121"/>
            </a:avLst>
          </a:prstGeom>
          <a:solidFill>
            <a:srgbClr val="FFFFFF"/>
          </a:solidFill>
          <a:ln w="9525">
            <a:solidFill>
              <a:srgbClr val="D5DEE8"/>
            </a:solidFill>
            <a:prstDash val="solid"/>
          </a:ln>
        </p:spPr>
      </p:sp>
      <p:sp>
        <p:nvSpPr>
          <p:cNvPr id="617" name="Shape 21"/>
          <p:cNvSpPr/>
          <p:nvPr/>
        </p:nvSpPr>
        <p:spPr>
          <a:xfrm>
            <a:off x="594360" y="3049524"/>
            <a:ext cx="347472" cy="347472"/>
          </a:xfrm>
          <a:prstGeom prst="ellipse">
            <a:avLst/>
          </a:prstGeom>
          <a:solidFill>
            <a:srgbClr val="13A89E"/>
          </a:solidFill>
          <a:ln w="12700">
            <a:solidFill>
              <a:srgbClr val="13A89E"/>
            </a:solidFill>
            <a:prstDash val="solid"/>
          </a:ln>
        </p:spPr>
      </p:sp>
      <p:sp>
        <p:nvSpPr>
          <p:cNvPr id="618" name="Text 22"/>
          <p:cNvSpPr txBox="1"/>
          <p:nvPr/>
        </p:nvSpPr>
        <p:spPr>
          <a:xfrm>
            <a:off x="594360" y="304952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4</a:t>
            </a:r>
            <a:endParaRPr lang="en-US" sz="1300" dirty="0"/>
          </a:p>
        </p:txBody>
      </p:sp>
      <p:sp>
        <p:nvSpPr>
          <p:cNvPr id="619" name="Text 23"/>
          <p:cNvSpPr txBox="1"/>
          <p:nvPr/>
        </p:nvSpPr>
        <p:spPr>
          <a:xfrm>
            <a:off x="1097280" y="2971800"/>
            <a:ext cx="1371600" cy="502920"/>
          </a:xfrm>
          <a:prstGeom prst="rect">
            <a:avLst/>
          </a:prstGeom>
          <a:noFill/>
          <a:ln/>
        </p:spPr>
        <p:txBody>
          <a:bodyPr wrap="square" lIns="0" tIns="0" rIns="0" bIns="0" rtlCol="0" anchor="ctr"/>
          <a:lstStyle/>
          <a:p>
            <a:pPr indent="0" marL="0">
              <a:buNone/>
            </a:pPr>
            <a:r>
              <a:rPr lang="en-US" sz="1400" b="1" dirty="0">
                <a:solidFill>
                  <a:srgbClr val="0B2545"/>
                </a:solidFill>
                <a:latin typeface="Times New Roman" pitchFamily="34" charset="0"/>
                <a:ea typeface="Times New Roman" pitchFamily="34" charset="-122"/>
                <a:cs typeface="Times New Roman" pitchFamily="34" charset="-120"/>
              </a:rPr>
              <a:t>Motion</a:t>
            </a:r>
            <a:endParaRPr lang="en-US" sz="1400" dirty="0"/>
          </a:p>
        </p:txBody>
      </p:sp>
      <p:sp>
        <p:nvSpPr>
          <p:cNvPr id="620" name="Text 24"/>
          <p:cNvSpPr txBox="1"/>
          <p:nvPr/>
        </p:nvSpPr>
        <p:spPr>
          <a:xfrm>
            <a:off x="2468880" y="2971800"/>
            <a:ext cx="6035040" cy="502920"/>
          </a:xfrm>
          <a:prstGeom prst="rect">
            <a:avLst/>
          </a:prstGeom>
          <a:noFill/>
          <a:ln/>
        </p:spPr>
        <p:txBody>
          <a:bodyPr wrap="square" lIns="0" tIns="0" rIns="0" bIns="0" rtlCol="0" anchor="ctr"/>
          <a:lstStyle/>
          <a:p>
            <a:pPr indent="0" marL="0">
              <a:buNone/>
            </a:pPr>
            <a:r>
              <a:rPr lang="en-US" sz="1400" dirty="0">
                <a:solidFill>
                  <a:srgbClr val="1E293B"/>
                </a:solidFill>
                <a:latin typeface="Times New Roman" pitchFamily="34" charset="0"/>
                <a:ea typeface="Times New Roman" pitchFamily="34" charset="-122"/>
                <a:cs typeface="Times New Roman" pitchFamily="34" charset="-120"/>
              </a:rPr>
              <a:t>An MPU6050 motion sensor (accelerometer and gyroscope) measures movement so the program can detect a fall.</a:t>
            </a:r>
            <a:endParaRPr lang="en-US" sz="1400" dirty="0"/>
          </a:p>
        </p:txBody>
      </p:sp>
      <p:sp>
        <p:nvSpPr>
          <p:cNvPr id="621" name="Shape 20"/>
          <p:cNvSpPr/>
          <p:nvPr/>
        </p:nvSpPr>
        <p:spPr>
          <a:xfrm>
            <a:off x="457200" y="3566160"/>
            <a:ext cx="8229600" cy="502920"/>
          </a:xfrm>
          <a:prstGeom prst="roundRect">
            <a:avLst>
              <a:gd name="adj" fmla="val 12121"/>
            </a:avLst>
          </a:prstGeom>
          <a:solidFill>
            <a:srgbClr val="FFFFFF"/>
          </a:solidFill>
          <a:ln w="9525">
            <a:solidFill>
              <a:srgbClr val="D5DEE8"/>
            </a:solidFill>
            <a:prstDash val="solid"/>
          </a:ln>
        </p:spPr>
      </p:sp>
      <p:sp>
        <p:nvSpPr>
          <p:cNvPr id="622" name="Shape 21"/>
          <p:cNvSpPr/>
          <p:nvPr/>
        </p:nvSpPr>
        <p:spPr>
          <a:xfrm>
            <a:off x="594360" y="3643884"/>
            <a:ext cx="347472" cy="347472"/>
          </a:xfrm>
          <a:prstGeom prst="ellipse">
            <a:avLst/>
          </a:prstGeom>
          <a:solidFill>
            <a:srgbClr val="13A89E"/>
          </a:solidFill>
          <a:ln w="12700">
            <a:solidFill>
              <a:srgbClr val="13A89E"/>
            </a:solidFill>
            <a:prstDash val="solid"/>
          </a:ln>
        </p:spPr>
      </p:sp>
      <p:sp>
        <p:nvSpPr>
          <p:cNvPr id="623" name="Text 22"/>
          <p:cNvSpPr txBox="1"/>
          <p:nvPr/>
        </p:nvSpPr>
        <p:spPr>
          <a:xfrm>
            <a:off x="594360" y="364388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5</a:t>
            </a:r>
            <a:endParaRPr lang="en-US" sz="1300" dirty="0"/>
          </a:p>
        </p:txBody>
      </p:sp>
      <p:sp>
        <p:nvSpPr>
          <p:cNvPr id="624" name="Text 23"/>
          <p:cNvSpPr txBox="1"/>
          <p:nvPr/>
        </p:nvSpPr>
        <p:spPr>
          <a:xfrm>
            <a:off x="1097280" y="3566160"/>
            <a:ext cx="1371600" cy="502920"/>
          </a:xfrm>
          <a:prstGeom prst="rect">
            <a:avLst/>
          </a:prstGeom>
          <a:noFill/>
          <a:ln/>
        </p:spPr>
        <p:txBody>
          <a:bodyPr wrap="square" lIns="0" tIns="0" rIns="0" bIns="0" rtlCol="0" anchor="ctr"/>
          <a:lstStyle/>
          <a:p>
            <a:pPr indent="0" marL="0">
              <a:buNone/>
            </a:pPr>
            <a:r>
              <a:rPr lang="en-US" sz="1400" b="1" dirty="0">
                <a:solidFill>
                  <a:srgbClr val="0B2545"/>
                </a:solidFill>
                <a:latin typeface="Times New Roman" pitchFamily="34" charset="0"/>
                <a:ea typeface="Times New Roman" pitchFamily="34" charset="-122"/>
                <a:cs typeface="Times New Roman" pitchFamily="34" charset="-120"/>
              </a:rPr>
              <a:t>Location</a:t>
            </a:r>
            <a:endParaRPr lang="en-US" sz="1400" dirty="0"/>
          </a:p>
        </p:txBody>
      </p:sp>
      <p:sp>
        <p:nvSpPr>
          <p:cNvPr id="625" name="Text 24"/>
          <p:cNvSpPr txBox="1"/>
          <p:nvPr/>
        </p:nvSpPr>
        <p:spPr>
          <a:xfrm>
            <a:off x="2468880" y="3566160"/>
            <a:ext cx="6035040" cy="502920"/>
          </a:xfrm>
          <a:prstGeom prst="rect">
            <a:avLst/>
          </a:prstGeom>
          <a:noFill/>
          <a:ln/>
        </p:spPr>
        <p:txBody>
          <a:bodyPr wrap="square" lIns="0" tIns="0" rIns="0" bIns="0" rtlCol="0" anchor="ctr"/>
          <a:lstStyle/>
          <a:p>
            <a:pPr indent="0" marL="0">
              <a:buNone/>
            </a:pPr>
            <a:r>
              <a:rPr lang="en-US" sz="1400" dirty="0">
                <a:solidFill>
                  <a:srgbClr val="1E293B"/>
                </a:solidFill>
                <a:latin typeface="Times New Roman" pitchFamily="34" charset="0"/>
                <a:ea typeface="Times New Roman" pitchFamily="34" charset="-122"/>
                <a:cs typeface="Times New Roman" pitchFamily="34" charset="-120"/>
              </a:rPr>
              <a:t>A GPS module provides location coordinates (latitude and longitude).</a:t>
            </a:r>
            <a:endParaRPr lang="en-US" sz="1400" dirty="0"/>
          </a:p>
        </p:txBody>
      </p:sp>
      <p:sp>
        <p:nvSpPr>
          <p:cNvPr id="626" name="Shape 25"/>
          <p:cNvSpPr/>
          <p:nvPr/>
        </p:nvSpPr>
        <p:spPr>
          <a:xfrm>
            <a:off x="457200" y="4160520"/>
            <a:ext cx="8229600" cy="502920"/>
          </a:xfrm>
          <a:prstGeom prst="roundRect">
            <a:avLst>
              <a:gd name="adj" fmla="val 12121"/>
            </a:avLst>
          </a:prstGeom>
          <a:solidFill>
            <a:srgbClr val="FFFFFF"/>
          </a:solidFill>
          <a:ln w="9525">
            <a:solidFill>
              <a:srgbClr val="D5DEE8"/>
            </a:solidFill>
            <a:prstDash val="solid"/>
          </a:ln>
        </p:spPr>
      </p:sp>
      <p:sp>
        <p:nvSpPr>
          <p:cNvPr id="627" name="Shape 26"/>
          <p:cNvSpPr/>
          <p:nvPr/>
        </p:nvSpPr>
        <p:spPr>
          <a:xfrm>
            <a:off x="594360" y="4238244"/>
            <a:ext cx="347472" cy="347472"/>
          </a:xfrm>
          <a:prstGeom prst="ellipse">
            <a:avLst/>
          </a:prstGeom>
          <a:solidFill>
            <a:srgbClr val="13A89E"/>
          </a:solidFill>
          <a:ln w="12700">
            <a:solidFill>
              <a:srgbClr val="13A89E"/>
            </a:solidFill>
            <a:prstDash val="solid"/>
          </a:ln>
        </p:spPr>
      </p:sp>
      <p:sp>
        <p:nvSpPr>
          <p:cNvPr id="628" name="Text 27"/>
          <p:cNvSpPr txBox="1"/>
          <p:nvPr/>
        </p:nvSpPr>
        <p:spPr>
          <a:xfrm>
            <a:off x="594360" y="42382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6</a:t>
            </a:r>
            <a:endParaRPr lang="en-US" sz="1300" dirty="0"/>
          </a:p>
        </p:txBody>
      </p:sp>
      <p:sp>
        <p:nvSpPr>
          <p:cNvPr id="629" name="Text 28"/>
          <p:cNvSpPr txBox="1"/>
          <p:nvPr/>
        </p:nvSpPr>
        <p:spPr>
          <a:xfrm>
            <a:off x="1097280" y="4160520"/>
            <a:ext cx="1371600" cy="502920"/>
          </a:xfrm>
          <a:prstGeom prst="rect">
            <a:avLst/>
          </a:prstGeom>
          <a:noFill/>
          <a:ln/>
        </p:spPr>
        <p:txBody>
          <a:bodyPr wrap="square" lIns="0" tIns="0" rIns="0" bIns="0" rtlCol="0" anchor="ctr"/>
          <a:lstStyle/>
          <a:p>
            <a:pPr indent="0" marL="0">
              <a:buNone/>
            </a:pPr>
            <a:r>
              <a:rPr lang="en-US" sz="1400" b="1" dirty="0">
                <a:solidFill>
                  <a:srgbClr val="0B2545"/>
                </a:solidFill>
                <a:latin typeface="Times New Roman" pitchFamily="34" charset="0"/>
                <a:ea typeface="Times New Roman" pitchFamily="34" charset="-122"/>
                <a:cs typeface="Times New Roman" pitchFamily="34" charset="-120"/>
              </a:rPr>
              <a:t>Data transfer</a:t>
            </a:r>
            <a:endParaRPr lang="en-US" sz="1400" dirty="0"/>
          </a:p>
        </p:txBody>
      </p:sp>
      <p:sp>
        <p:nvSpPr>
          <p:cNvPr id="630" name="Text 29"/>
          <p:cNvSpPr txBox="1"/>
          <p:nvPr/>
        </p:nvSpPr>
        <p:spPr>
          <a:xfrm>
            <a:off x="2468880" y="4160520"/>
            <a:ext cx="6035040" cy="502920"/>
          </a:xfrm>
          <a:prstGeom prst="rect">
            <a:avLst/>
          </a:prstGeom>
          <a:noFill/>
          <a:ln/>
        </p:spPr>
        <p:txBody>
          <a:bodyPr wrap="square" lIns="0" tIns="0" rIns="0" bIns="0" rtlCol="0" anchor="ctr"/>
          <a:lstStyle/>
          <a:p>
            <a:pPr indent="0" marL="0">
              <a:buNone/>
            </a:pPr>
            <a:r>
              <a:rPr lang="en-US" sz="1400" dirty="0">
                <a:solidFill>
                  <a:srgbClr val="1E293B"/>
                </a:solidFill>
                <a:latin typeface="Times New Roman" pitchFamily="34" charset="0"/>
                <a:ea typeface="Times New Roman" pitchFamily="34" charset="-122"/>
                <a:cs typeface="Times New Roman" pitchFamily="34" charset="-120"/>
              </a:rPr>
              <a:t>The prototype transfers the data to a computer through a USB cable.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3A89E"/>
          </a:solidFill>
          <a:ln w="9525">
            <a:solidFill>
              <a:srgbClr val="13A89E"/>
            </a:solidFill>
            <a:prstDash val="solid"/>
          </a:ln>
        </p:spPr>
      </p:sp>
      <p:sp>
        <p:nvSpPr>
          <p:cNvPr id="3" name="Text 1"/>
          <p:cNvSpPr txBox="1"/>
          <p:nvPr/>
        </p:nvSpPr>
        <p:spPr>
          <a:xfrm>
            <a:off x="457200" y="228600"/>
            <a:ext cx="8229600" cy="457200"/>
          </a:xfrm>
          <a:prstGeom prst="rect">
            <a:avLst/>
          </a:prstGeom>
          <a:noFill/>
          <a:ln/>
        </p:spPr>
        <p:txBody>
          <a:bodyPr wrap="square" lIns="0" tIns="0" rIns="0" bIns="0" rtlCol="0" anchor="ctr"/>
          <a:lstStyle/>
          <a:p>
            <a:pPr indent="0" marL="0">
              <a:buNone/>
            </a:pPr>
            <a:r>
              <a:rPr lang="en-US" sz="2400" b="1" dirty="0">
                <a:solidFill>
                  <a:srgbClr val="0B2545"/>
                </a:solidFill>
                <a:latin typeface="Times New Roman" pitchFamily="34" charset="0"/>
                <a:ea typeface="Times New Roman" pitchFamily="34" charset="-122"/>
                <a:cs typeface="Times New Roman" pitchFamily="34" charset="-120"/>
              </a:rPr>
              <a:t>Hardware Components</a:t>
            </a:r>
            <a:endParaRPr lang="en-US" sz="2400" dirty="0"/>
          </a:p>
        </p:txBody>
      </p:sp>
      <p:sp>
        <p:nvSpPr>
          <p:cNvPr id="4" name="Text 2"/>
          <p:cNvSpPr txBox="1"/>
          <p:nvPr/>
        </p:nvSpPr>
        <p:spPr>
          <a:xfrm>
            <a:off x="457200" y="685800"/>
            <a:ext cx="8229600" cy="274320"/>
          </a:xfrm>
          <a:prstGeom prst="rect">
            <a:avLst/>
          </a:prstGeom>
          <a:noFill/>
          <a:ln/>
        </p:spPr>
        <p:txBody>
          <a:bodyPr wrap="square" lIns="0" tIns="0" rIns="0" bIns="0" rtlCol="0" anchor="t"/>
          <a:lstStyle/>
          <a:p>
            <a:pPr indent="0" marL="0">
              <a:buNone/>
            </a:pPr>
            <a:r>
              <a:rPr lang="en-US" sz="1400" dirty="0">
                <a:solidFill>
                  <a:srgbClr val="64748B"/>
                </a:solidFill>
                <a:latin typeface="Times New Roman" pitchFamily="34" charset="0"/>
                <a:ea typeface="Times New Roman" pitchFamily="34" charset="-122"/>
                <a:cs typeface="Times New Roman" pitchFamily="34" charset="-120"/>
              </a:rPr>
              <a:t>Five building blocks of the prototype</a:t>
            </a:r>
            <a:endParaRPr lang="en-US" sz="1400" dirty="0"/>
          </a:p>
        </p:txBody>
      </p:sp>
      <p:sp>
        <p:nvSpPr>
          <p:cNvPr id="5" name="Text 3"/>
          <p:cNvSpPr txBox="1"/>
          <p:nvPr/>
        </p:nvSpPr>
        <p:spPr>
          <a:xfrm>
            <a:off x="457200" y="4828032"/>
            <a:ext cx="6400800" cy="228600"/>
          </a:xfrm>
          <a:prstGeom prst="rect">
            <a:avLst/>
          </a:prstGeom>
          <a:noFill/>
          <a:ln/>
        </p:spPr>
        <p:txBody>
          <a:bodyPr wrap="square" lIns="0" tIns="0" rIns="0" bIns="0" rtlCol="0" anchor="t"/>
          <a:lstStyle/>
          <a:p>
            <a:pPr indent="0" marL="0">
              <a:buNone/>
            </a:pPr>
            <a:r>
              <a:rPr lang="en-US" sz="900" dirty="0">
                <a:solidFill>
                  <a:srgbClr val="64748B"/>
                </a:solidFill>
                <a:latin typeface="Times New Roman" pitchFamily="34" charset="0"/>
                <a:ea typeface="Times New Roman" pitchFamily="34" charset="-122"/>
                <a:cs typeface="Times New Roman" pitchFamily="34" charset="-120"/>
              </a:rPr>
              <a:t>IoT-Based Smart Women’s Safety Belt  |  Hardware Implementation</a:t>
            </a:r>
            <a:endParaRPr lang="en-US" sz="900" dirty="0"/>
          </a:p>
        </p:txBody>
      </p:sp>
      <p:sp>
        <p:nvSpPr>
          <p:cNvPr id="6" name="Text 4"/>
          <p:cNvSpPr txBox="1"/>
          <p:nvPr/>
        </p:nvSpPr>
        <p:spPr>
          <a:xfrm>
            <a:off x="8229600" y="4828032"/>
            <a:ext cx="457200" cy="228600"/>
          </a:xfrm>
          <a:prstGeom prst="rect">
            <a:avLst/>
          </a:prstGeom>
          <a:noFill/>
          <a:ln/>
        </p:spPr>
        <p:txBody>
          <a:bodyPr wrap="square" lIns="0" tIns="0" rIns="0" bIns="0" rtlCol="0" anchor="t"/>
          <a:lstStyle/>
          <a:p>
            <a:pPr algn="r" indent="0" marL="0">
              <a:buNone/>
            </a:pPr>
            <a:r>
              <a:rPr lang="en-US" sz="900" dirty="0">
                <a:solidFill>
                  <a:srgbClr val="64748B"/>
                </a:solidFill>
                <a:latin typeface="Times New Roman" pitchFamily="34" charset="0"/>
                <a:ea typeface="Times New Roman" pitchFamily="34" charset="-122"/>
                <a:cs typeface="Times New Roman" pitchFamily="34" charset="-120"/>
              </a:rPr>
              <a:t>3</a:t>
            </a:r>
            <a:endParaRPr lang="en-US" sz="900" dirty="0"/>
          </a:p>
        </p:txBody>
      </p:sp>
      <p:sp>
        <p:nvSpPr>
          <p:cNvPr id="301" name="Shape 5"/>
          <p:cNvSpPr/>
          <p:nvPr/>
        </p:nvSpPr>
        <p:spPr>
          <a:xfrm>
            <a:off x="457200" y="1188720"/>
            <a:ext cx="1517904" cy="3429000"/>
          </a:xfrm>
          <a:prstGeom prst="roundRect">
            <a:avLst>
              <a:gd name="adj" fmla="val 3810"/>
            </a:avLst>
          </a:prstGeom>
          <a:solidFill>
            <a:srgbClr val="FFFFFF"/>
          </a:solidFill>
          <a:ln w="9525">
            <a:solidFill>
              <a:srgbClr val="D5DEE8"/>
            </a:solidFill>
            <a:prstDash val="solid"/>
          </a:ln>
        </p:spPr>
      </p:sp>
      <p:sp>
        <p:nvSpPr>
          <p:cNvPr id="302" name="Shape 6"/>
          <p:cNvSpPr/>
          <p:nvPr/>
        </p:nvSpPr>
        <p:spPr>
          <a:xfrm>
            <a:off x="457200" y="1188720"/>
            <a:ext cx="1517904" cy="73152"/>
          </a:xfrm>
          <a:prstGeom prst="rect">
            <a:avLst/>
          </a:prstGeom>
          <a:solidFill>
            <a:srgbClr val="13A89E"/>
          </a:solidFill>
          <a:ln w="9525">
            <a:solidFill>
              <a:srgbClr val="13A89E"/>
            </a:solidFill>
            <a:prstDash val="solid"/>
          </a:ln>
        </p:spPr>
      </p:sp>
      <p:pic>
        <p:nvPicPr>
          <p:cNvPr id="303" name="Image 0" descr="esp 3D illustration">    </p:cNvPr>
          <p:cNvPicPr>
            <a:picLocks noChangeAspect="1"/>
          </p:cNvPicPr>
          <p:nvPr/>
        </p:nvPicPr>
        <p:blipFill>
          <a:blip r:embed="rId1"/>
          <a:stretch>
            <a:fillRect/>
          </a:stretch>
        </p:blipFill>
        <p:spPr>
          <a:xfrm>
            <a:off x="548640" y="1352526"/>
            <a:ext cx="1335024" cy="943403"/>
          </a:xfrm>
          <a:prstGeom prst="rect">
            <a:avLst/>
          </a:prstGeom>
        </p:spPr>
      </p:pic>
      <p:sp>
        <p:nvSpPr>
          <p:cNvPr id="304" name="Text 7"/>
          <p:cNvSpPr txBox="1"/>
          <p:nvPr/>
        </p:nvSpPr>
        <p:spPr>
          <a:xfrm>
            <a:off x="566928" y="2514600"/>
            <a:ext cx="1298448" cy="502920"/>
          </a:xfrm>
          <a:prstGeom prst="rect">
            <a:avLst/>
          </a:prstGeom>
          <a:noFill/>
          <a:ln/>
        </p:spPr>
        <p:txBody>
          <a:bodyPr wrap="square" lIns="0" tIns="0" rIns="0" bIns="0" rtlCol="0" anchor="t"/>
          <a:lstStyle/>
          <a:p>
            <a:pPr indent="0" marL="0">
              <a:buNone/>
            </a:pPr>
            <a:r>
              <a:rPr lang="en-US" sz="1400" b="1" dirty="0">
                <a:solidFill>
                  <a:srgbClr val="0B2545"/>
                </a:solidFill>
                <a:latin typeface="Times New Roman" pitchFamily="34" charset="0"/>
                <a:ea typeface="Times New Roman" pitchFamily="34" charset="-122"/>
                <a:cs typeface="Times New Roman" pitchFamily="34" charset="-120"/>
              </a:rPr>
              <a:t>ESP32-C3 SuperMini</a:t>
            </a:r>
            <a:endParaRPr lang="en-US" sz="1400" dirty="0"/>
          </a:p>
        </p:txBody>
      </p:sp>
      <p:sp>
        <p:nvSpPr>
          <p:cNvPr id="305" name="Text 8"/>
          <p:cNvSpPr txBox="1"/>
          <p:nvPr/>
        </p:nvSpPr>
        <p:spPr>
          <a:xfrm>
            <a:off x="566928" y="3063240"/>
            <a:ext cx="1298448" cy="1463040"/>
          </a:xfrm>
          <a:prstGeom prst="rect">
            <a:avLst/>
          </a:prstGeom>
          <a:noFill/>
          <a:ln/>
        </p:spPr>
        <p:txBody>
          <a:bodyPr wrap="square" lIns="0" tIns="0" rIns="0" bIns="0" rtlCol="0" anchor="t"/>
          <a:lstStyle/>
          <a:p>
            <a:pPr indent="0" marL="0">
              <a:buNone/>
            </a:pPr>
            <a:r>
              <a:rPr lang="en-US" sz="1300" dirty="0">
                <a:solidFill>
                  <a:srgbClr val="1E293B"/>
                </a:solidFill>
                <a:latin typeface="Times New Roman" pitchFamily="34" charset="0"/>
                <a:ea typeface="Times New Roman" pitchFamily="34" charset="-122"/>
                <a:cs typeface="Times New Roman" pitchFamily="34" charset="-120"/>
              </a:rPr>
              <a:t>Microcontroller. Reads the SOS button and coordinates the programmed operations.</a:t>
            </a:r>
            <a:endParaRPr lang="en-US" sz="1300" dirty="0"/>
          </a:p>
        </p:txBody>
      </p:sp>
      <p:sp>
        <p:nvSpPr>
          <p:cNvPr id="306" name="Shape 9"/>
          <p:cNvSpPr/>
          <p:nvPr/>
        </p:nvSpPr>
        <p:spPr>
          <a:xfrm>
            <a:off x="2135124" y="1188720"/>
            <a:ext cx="1517904" cy="3429000"/>
          </a:xfrm>
          <a:prstGeom prst="roundRect">
            <a:avLst>
              <a:gd name="adj" fmla="val 3810"/>
            </a:avLst>
          </a:prstGeom>
          <a:solidFill>
            <a:srgbClr val="FFFFFF"/>
          </a:solidFill>
          <a:ln w="9525">
            <a:solidFill>
              <a:srgbClr val="D5DEE8"/>
            </a:solidFill>
            <a:prstDash val="solid"/>
          </a:ln>
        </p:spPr>
      </p:sp>
      <p:sp>
        <p:nvSpPr>
          <p:cNvPr id="307" name="Shape 10"/>
          <p:cNvSpPr/>
          <p:nvPr/>
        </p:nvSpPr>
        <p:spPr>
          <a:xfrm>
            <a:off x="2135124" y="1188720"/>
            <a:ext cx="1517904" cy="73152"/>
          </a:xfrm>
          <a:prstGeom prst="rect">
            <a:avLst/>
          </a:prstGeom>
          <a:solidFill>
            <a:srgbClr val="13A89E"/>
          </a:solidFill>
          <a:ln w="9525">
            <a:solidFill>
              <a:srgbClr val="13A89E"/>
            </a:solidFill>
            <a:prstDash val="solid"/>
          </a:ln>
        </p:spPr>
      </p:sp>
      <p:pic>
        <p:nvPicPr>
          <p:cNvPr id="308" name="Image 1" descr="gps 3D illustration">    </p:cNvPr>
          <p:cNvPicPr>
            <a:picLocks noChangeAspect="1"/>
          </p:cNvPicPr>
          <p:nvPr/>
        </p:nvPicPr>
        <p:blipFill>
          <a:blip r:embed="rId2"/>
          <a:stretch>
            <a:fillRect/>
          </a:stretch>
        </p:blipFill>
        <p:spPr>
          <a:xfrm>
            <a:off x="2226564" y="1356969"/>
            <a:ext cx="1335024" cy="934516"/>
          </a:xfrm>
          <a:prstGeom prst="rect">
            <a:avLst/>
          </a:prstGeom>
        </p:spPr>
      </p:pic>
      <p:sp>
        <p:nvSpPr>
          <p:cNvPr id="309" name="Text 11"/>
          <p:cNvSpPr txBox="1"/>
          <p:nvPr/>
        </p:nvSpPr>
        <p:spPr>
          <a:xfrm>
            <a:off x="2244852" y="2514600"/>
            <a:ext cx="1298448" cy="502920"/>
          </a:xfrm>
          <a:prstGeom prst="rect">
            <a:avLst/>
          </a:prstGeom>
          <a:noFill/>
          <a:ln/>
        </p:spPr>
        <p:txBody>
          <a:bodyPr wrap="square" lIns="0" tIns="0" rIns="0" bIns="0" rtlCol="0" anchor="t"/>
          <a:lstStyle/>
          <a:p>
            <a:pPr indent="0" marL="0">
              <a:buNone/>
            </a:pPr>
            <a:r>
              <a:rPr lang="en-US" sz="1400" b="1" dirty="0">
                <a:solidFill>
                  <a:srgbClr val="0B2545"/>
                </a:solidFill>
                <a:latin typeface="Times New Roman" pitchFamily="34" charset="0"/>
                <a:ea typeface="Times New Roman" pitchFamily="34" charset="-122"/>
                <a:cs typeface="Times New Roman" pitchFamily="34" charset="-120"/>
              </a:rPr>
              <a:t>GPS Module</a:t>
            </a:r>
            <a:endParaRPr lang="en-US" sz="1400" dirty="0"/>
          </a:p>
        </p:txBody>
      </p:sp>
      <p:sp>
        <p:nvSpPr>
          <p:cNvPr id="310" name="Text 12"/>
          <p:cNvSpPr txBox="1"/>
          <p:nvPr/>
        </p:nvSpPr>
        <p:spPr>
          <a:xfrm>
            <a:off x="2244852" y="3063240"/>
            <a:ext cx="1298448" cy="1463040"/>
          </a:xfrm>
          <a:prstGeom prst="rect">
            <a:avLst/>
          </a:prstGeom>
          <a:noFill/>
          <a:ln/>
        </p:spPr>
        <p:txBody>
          <a:bodyPr wrap="square" lIns="0" tIns="0" rIns="0" bIns="0" rtlCol="0" anchor="t"/>
          <a:lstStyle/>
          <a:p>
            <a:pPr indent="0" marL="0">
              <a:buNone/>
            </a:pPr>
            <a:r>
              <a:rPr lang="en-US" sz="1300" dirty="0">
                <a:solidFill>
                  <a:srgbClr val="1E293B"/>
                </a:solidFill>
                <a:latin typeface="Times New Roman" pitchFamily="34" charset="0"/>
                <a:ea typeface="Times New Roman" pitchFamily="34" charset="-122"/>
                <a:cs typeface="Times New Roman" pitchFamily="34" charset="-120"/>
              </a:rPr>
              <a:t>Receives satellite signals and calculates latitude and longitude.</a:t>
            </a:r>
            <a:endParaRPr lang="en-US" sz="1300" dirty="0"/>
          </a:p>
        </p:txBody>
      </p:sp>
      <p:sp>
        <p:nvSpPr>
          <p:cNvPr id="311" name="Shape 9"/>
          <p:cNvSpPr/>
          <p:nvPr/>
        </p:nvSpPr>
        <p:spPr>
          <a:xfrm>
            <a:off x="3813048" y="1188720"/>
            <a:ext cx="1517904" cy="3429000"/>
          </a:xfrm>
          <a:prstGeom prst="roundRect">
            <a:avLst>
              <a:gd name="adj" fmla="val 3810"/>
            </a:avLst>
          </a:prstGeom>
          <a:solidFill>
            <a:srgbClr val="FFFFFF"/>
          </a:solidFill>
          <a:ln w="9525">
            <a:solidFill>
              <a:srgbClr val="D5DEE8"/>
            </a:solidFill>
            <a:prstDash val="solid"/>
          </a:ln>
        </p:spPr>
      </p:sp>
      <p:sp>
        <p:nvSpPr>
          <p:cNvPr id="312" name="Shape 10"/>
          <p:cNvSpPr/>
          <p:nvPr/>
        </p:nvSpPr>
        <p:spPr>
          <a:xfrm>
            <a:off x="3813048" y="1188720"/>
            <a:ext cx="1517904" cy="73152"/>
          </a:xfrm>
          <a:prstGeom prst="rect">
            <a:avLst/>
          </a:prstGeom>
          <a:solidFill>
            <a:srgbClr val="13A89E"/>
          </a:solidFill>
          <a:ln w="9525">
            <a:solidFill>
              <a:srgbClr val="13A89E"/>
            </a:solidFill>
            <a:prstDash val="solid"/>
          </a:ln>
        </p:spPr>
      </p:sp>
      <p:pic>
        <p:nvPicPr>
          <p:cNvPr id="313" name="Image 1" descr="mpu6050 3D illustration">    </p:cNvPr>
          <p:cNvPicPr>
            <a:picLocks noChangeAspect="1"/>
          </p:cNvPicPr>
          <p:nvPr/>
        </p:nvPicPr>
        <p:blipFill>
          <a:blip r:embed="rId7"/>
          <a:stretch>
            <a:fillRect/>
          </a:stretch>
        </p:blipFill>
        <p:spPr>
          <a:xfrm>
            <a:off x="3904487" y="1365313"/>
            <a:ext cx="1335024" cy="917829"/>
          </a:xfrm>
          <a:prstGeom prst="rect">
            <a:avLst/>
          </a:prstGeom>
        </p:spPr>
      </p:pic>
      <p:sp>
        <p:nvSpPr>
          <p:cNvPr id="314" name="Text 11"/>
          <p:cNvSpPr txBox="1"/>
          <p:nvPr/>
        </p:nvSpPr>
        <p:spPr>
          <a:xfrm>
            <a:off x="3922776" y="2514600"/>
            <a:ext cx="1298448" cy="502920"/>
          </a:xfrm>
          <a:prstGeom prst="rect">
            <a:avLst/>
          </a:prstGeom>
          <a:noFill/>
          <a:ln/>
        </p:spPr>
        <p:txBody>
          <a:bodyPr wrap="square" lIns="0" tIns="0" rIns="0" bIns="0" rtlCol="0" anchor="t"/>
          <a:lstStyle/>
          <a:p>
            <a:pPr indent="0" marL="0">
              <a:buNone/>
            </a:pPr>
            <a:r>
              <a:rPr lang="en-US" sz="1400" b="1" dirty="0">
                <a:solidFill>
                  <a:srgbClr val="0B2545"/>
                </a:solidFill>
                <a:latin typeface="Times New Roman" pitchFamily="34" charset="0"/>
                <a:ea typeface="Times New Roman" pitchFamily="34" charset="-122"/>
                <a:cs typeface="Times New Roman" pitchFamily="34" charset="-120"/>
              </a:rPr>
              <a:t>MPU6050 Motion Sensor</a:t>
            </a:r>
            <a:endParaRPr lang="en-US" sz="1400" dirty="0"/>
          </a:p>
        </p:txBody>
      </p:sp>
      <p:sp>
        <p:nvSpPr>
          <p:cNvPr id="315" name="Text 12"/>
          <p:cNvSpPr txBox="1"/>
          <p:nvPr/>
        </p:nvSpPr>
        <p:spPr>
          <a:xfrm>
            <a:off x="3922776" y="3063240"/>
            <a:ext cx="1298448" cy="1463040"/>
          </a:xfrm>
          <a:prstGeom prst="rect">
            <a:avLst/>
          </a:prstGeom>
          <a:noFill/>
          <a:ln/>
        </p:spPr>
        <p:txBody>
          <a:bodyPr wrap="square" lIns="0" tIns="0" rIns="0" bIns="0" rtlCol="0" anchor="t"/>
          <a:lstStyle/>
          <a:p>
            <a:pPr indent="0" marL="0">
              <a:buNone/>
            </a:pPr>
            <a:r>
              <a:rPr lang="en-US" sz="1300" dirty="0">
                <a:solidFill>
                  <a:srgbClr val="1E293B"/>
                </a:solidFill>
                <a:latin typeface="Times New Roman" pitchFamily="34" charset="0"/>
                <a:ea typeface="Times New Roman" pitchFamily="34" charset="-122"/>
                <a:cs typeface="Times New Roman" pitchFamily="34" charset="-120"/>
              </a:rPr>
              <a:t>Accelerometer and gyroscope. Measures motion so the program can detect a fall.</a:t>
            </a:r>
            <a:endParaRPr lang="en-US" sz="1300" dirty="0"/>
          </a:p>
        </p:txBody>
      </p:sp>
      <p:sp>
        <p:nvSpPr>
          <p:cNvPr id="316" name="Shape 13"/>
          <p:cNvSpPr/>
          <p:nvPr/>
        </p:nvSpPr>
        <p:spPr>
          <a:xfrm>
            <a:off x="5490972" y="1188720"/>
            <a:ext cx="1517904" cy="3429000"/>
          </a:xfrm>
          <a:prstGeom prst="roundRect">
            <a:avLst>
              <a:gd name="adj" fmla="val 3810"/>
            </a:avLst>
          </a:prstGeom>
          <a:solidFill>
            <a:srgbClr val="FFFFFF"/>
          </a:solidFill>
          <a:ln w="9525">
            <a:solidFill>
              <a:srgbClr val="D5DEE8"/>
            </a:solidFill>
            <a:prstDash val="solid"/>
          </a:ln>
        </p:spPr>
      </p:sp>
      <p:sp>
        <p:nvSpPr>
          <p:cNvPr id="317" name="Shape 14"/>
          <p:cNvSpPr/>
          <p:nvPr/>
        </p:nvSpPr>
        <p:spPr>
          <a:xfrm>
            <a:off x="5490972" y="1188720"/>
            <a:ext cx="1517904" cy="73152"/>
          </a:xfrm>
          <a:prstGeom prst="rect">
            <a:avLst/>
          </a:prstGeom>
          <a:solidFill>
            <a:srgbClr val="13A89E"/>
          </a:solidFill>
          <a:ln w="9525">
            <a:solidFill>
              <a:srgbClr val="13A89E"/>
            </a:solidFill>
            <a:prstDash val="solid"/>
          </a:ln>
        </p:spPr>
      </p:sp>
      <p:pic>
        <p:nvPicPr>
          <p:cNvPr id="318" name="Image 2" descr="button 3D illustration">    </p:cNvPr>
          <p:cNvPicPr>
            <a:picLocks noChangeAspect="1"/>
          </p:cNvPicPr>
          <p:nvPr/>
        </p:nvPicPr>
        <p:blipFill>
          <a:blip r:embed="rId3"/>
          <a:stretch>
            <a:fillRect/>
          </a:stretch>
        </p:blipFill>
        <p:spPr>
          <a:xfrm>
            <a:off x="5609129" y="1298448"/>
            <a:ext cx="1281588" cy="1051560"/>
          </a:xfrm>
          <a:prstGeom prst="rect">
            <a:avLst/>
          </a:prstGeom>
        </p:spPr>
      </p:pic>
      <p:sp>
        <p:nvSpPr>
          <p:cNvPr id="319" name="Text 15"/>
          <p:cNvSpPr txBox="1"/>
          <p:nvPr/>
        </p:nvSpPr>
        <p:spPr>
          <a:xfrm>
            <a:off x="5600700" y="2514600"/>
            <a:ext cx="1298448" cy="502920"/>
          </a:xfrm>
          <a:prstGeom prst="rect">
            <a:avLst/>
          </a:prstGeom>
          <a:noFill/>
          <a:ln/>
        </p:spPr>
        <p:txBody>
          <a:bodyPr wrap="square" lIns="0" tIns="0" rIns="0" bIns="0" rtlCol="0" anchor="t"/>
          <a:lstStyle/>
          <a:p>
            <a:pPr indent="0" marL="0">
              <a:buNone/>
            </a:pPr>
            <a:r>
              <a:rPr lang="en-US" sz="1400" b="1" dirty="0">
                <a:solidFill>
                  <a:srgbClr val="0B2545"/>
                </a:solidFill>
                <a:latin typeface="Times New Roman" pitchFamily="34" charset="0"/>
                <a:ea typeface="Times New Roman" pitchFamily="34" charset="-122"/>
                <a:cs typeface="Times New Roman" pitchFamily="34" charset="-120"/>
              </a:rPr>
              <a:t>Hidden SOS Push Button</a:t>
            </a:r>
            <a:endParaRPr lang="en-US" sz="1400" dirty="0"/>
          </a:p>
        </p:txBody>
      </p:sp>
      <p:sp>
        <p:nvSpPr>
          <p:cNvPr id="320" name="Text 16"/>
          <p:cNvSpPr txBox="1"/>
          <p:nvPr/>
        </p:nvSpPr>
        <p:spPr>
          <a:xfrm>
            <a:off x="5600700" y="3063240"/>
            <a:ext cx="1298448" cy="1463040"/>
          </a:xfrm>
          <a:prstGeom prst="rect">
            <a:avLst/>
          </a:prstGeom>
          <a:noFill/>
          <a:ln/>
        </p:spPr>
        <p:txBody>
          <a:bodyPr wrap="square" lIns="0" tIns="0" rIns="0" bIns="0" rtlCol="0" anchor="t"/>
          <a:lstStyle/>
          <a:p>
            <a:pPr indent="0" marL="0">
              <a:buNone/>
            </a:pPr>
            <a:r>
              <a:rPr lang="en-US" sz="1300" dirty="0">
                <a:solidFill>
                  <a:srgbClr val="1E293B"/>
                </a:solidFill>
                <a:latin typeface="Times New Roman" pitchFamily="34" charset="0"/>
                <a:ea typeface="Times New Roman" pitchFamily="34" charset="-122"/>
                <a:cs typeface="Times New Roman" pitchFamily="34" charset="-120"/>
              </a:rPr>
              <a:t>Provides the emergency input signal when pressed.</a:t>
            </a:r>
            <a:endParaRPr lang="en-US" sz="1300" dirty="0"/>
          </a:p>
        </p:txBody>
      </p:sp>
      <p:sp>
        <p:nvSpPr>
          <p:cNvPr id="321" name="Shape 17"/>
          <p:cNvSpPr/>
          <p:nvPr/>
        </p:nvSpPr>
        <p:spPr>
          <a:xfrm>
            <a:off x="7168896" y="1188720"/>
            <a:ext cx="1517904" cy="3429000"/>
          </a:xfrm>
          <a:prstGeom prst="roundRect">
            <a:avLst>
              <a:gd name="adj" fmla="val 3810"/>
            </a:avLst>
          </a:prstGeom>
          <a:solidFill>
            <a:srgbClr val="FFFFFF"/>
          </a:solidFill>
          <a:ln w="9525">
            <a:solidFill>
              <a:srgbClr val="D5DEE8"/>
            </a:solidFill>
            <a:prstDash val="solid"/>
          </a:ln>
        </p:spPr>
      </p:sp>
      <p:sp>
        <p:nvSpPr>
          <p:cNvPr id="322" name="Shape 18"/>
          <p:cNvSpPr/>
          <p:nvPr/>
        </p:nvSpPr>
        <p:spPr>
          <a:xfrm>
            <a:off x="7168896" y="1188720"/>
            <a:ext cx="1517904" cy="73152"/>
          </a:xfrm>
          <a:prstGeom prst="rect">
            <a:avLst/>
          </a:prstGeom>
          <a:solidFill>
            <a:srgbClr val="13A89E"/>
          </a:solidFill>
          <a:ln w="9525">
            <a:solidFill>
              <a:srgbClr val="13A89E"/>
            </a:solidFill>
            <a:prstDash val="solid"/>
          </a:ln>
        </p:spPr>
      </p:sp>
      <p:pic>
        <p:nvPicPr>
          <p:cNvPr id="323" name="Image 3" descr="usb 3D illustration">    </p:cNvPr>
          <p:cNvPicPr>
            <a:picLocks noChangeAspect="1"/>
          </p:cNvPicPr>
          <p:nvPr/>
        </p:nvPicPr>
        <p:blipFill>
          <a:blip r:embed="rId4"/>
          <a:stretch>
            <a:fillRect/>
          </a:stretch>
        </p:blipFill>
        <p:spPr>
          <a:xfrm>
            <a:off x="7396693" y="1298448"/>
            <a:ext cx="1062309" cy="1051560"/>
          </a:xfrm>
          <a:prstGeom prst="rect">
            <a:avLst/>
          </a:prstGeom>
        </p:spPr>
      </p:pic>
      <p:sp>
        <p:nvSpPr>
          <p:cNvPr id="324" name="Text 19"/>
          <p:cNvSpPr txBox="1"/>
          <p:nvPr/>
        </p:nvSpPr>
        <p:spPr>
          <a:xfrm>
            <a:off x="7278624" y="2514600"/>
            <a:ext cx="1298448" cy="502920"/>
          </a:xfrm>
          <a:prstGeom prst="rect">
            <a:avLst/>
          </a:prstGeom>
          <a:noFill/>
          <a:ln/>
        </p:spPr>
        <p:txBody>
          <a:bodyPr wrap="square" lIns="0" tIns="0" rIns="0" bIns="0" rtlCol="0" anchor="t"/>
          <a:lstStyle/>
          <a:p>
            <a:pPr indent="0" marL="0">
              <a:buNone/>
            </a:pPr>
            <a:r>
              <a:rPr lang="en-US" sz="1400" b="1" dirty="0">
                <a:solidFill>
                  <a:srgbClr val="0B2545"/>
                </a:solidFill>
                <a:latin typeface="Times New Roman" pitchFamily="34" charset="0"/>
                <a:ea typeface="Times New Roman" pitchFamily="34" charset="-122"/>
                <a:cs typeface="Times New Roman" pitchFamily="34" charset="-120"/>
              </a:rPr>
              <a:t>USB Cable</a:t>
            </a:r>
            <a:endParaRPr lang="en-US" sz="1400" dirty="0"/>
          </a:p>
        </p:txBody>
      </p:sp>
      <p:sp>
        <p:nvSpPr>
          <p:cNvPr id="325" name="Text 20"/>
          <p:cNvSpPr txBox="1"/>
          <p:nvPr/>
        </p:nvSpPr>
        <p:spPr>
          <a:xfrm>
            <a:off x="7278624" y="3063240"/>
            <a:ext cx="1298448" cy="1463040"/>
          </a:xfrm>
          <a:prstGeom prst="rect">
            <a:avLst/>
          </a:prstGeom>
          <a:noFill/>
          <a:ln/>
        </p:spPr>
        <p:txBody>
          <a:bodyPr wrap="square" lIns="0" tIns="0" rIns="0" bIns="0" rtlCol="0" anchor="t"/>
          <a:lstStyle/>
          <a:p>
            <a:pPr indent="0" marL="0">
              <a:buNone/>
            </a:pPr>
            <a:r>
              <a:rPr lang="en-US" sz="1300" dirty="0">
                <a:solidFill>
                  <a:srgbClr val="1E293B"/>
                </a:solidFill>
                <a:latin typeface="Times New Roman" pitchFamily="34" charset="0"/>
                <a:ea typeface="Times New Roman" pitchFamily="34" charset="-122"/>
                <a:cs typeface="Times New Roman" pitchFamily="34" charset="-120"/>
              </a:rPr>
              <a:t>Connects to the computer for data transfer; may also power the board during USB operation.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3A89E"/>
          </a:solidFill>
          <a:ln w="9525">
            <a:solidFill>
              <a:srgbClr val="13A89E"/>
            </a:solidFill>
            <a:prstDash val="solid"/>
          </a:ln>
        </p:spPr>
      </p:sp>
      <p:sp>
        <p:nvSpPr>
          <p:cNvPr id="3" name="Text 1"/>
          <p:cNvSpPr txBox="1"/>
          <p:nvPr/>
        </p:nvSpPr>
        <p:spPr>
          <a:xfrm>
            <a:off x="457200" y="228600"/>
            <a:ext cx="8229600" cy="457200"/>
          </a:xfrm>
          <a:prstGeom prst="rect">
            <a:avLst/>
          </a:prstGeom>
          <a:noFill/>
          <a:ln/>
        </p:spPr>
        <p:txBody>
          <a:bodyPr wrap="square" lIns="0" tIns="0" rIns="0" bIns="0" rtlCol="0" anchor="ctr"/>
          <a:lstStyle/>
          <a:p>
            <a:pPr indent="0" marL="0">
              <a:buNone/>
            </a:pPr>
            <a:r>
              <a:rPr lang="en-US" sz="2400" b="1" dirty="0">
                <a:solidFill>
                  <a:srgbClr val="0B2545"/>
                </a:solidFill>
                <a:latin typeface="Times New Roman" pitchFamily="34" charset="0"/>
                <a:ea typeface="Times New Roman" pitchFamily="34" charset="-122"/>
                <a:cs typeface="Times New Roman" pitchFamily="34" charset="-120"/>
              </a:rPr>
              <a:t>ESP32-C3 SuperMini</a:t>
            </a:r>
            <a:endParaRPr lang="en-US" sz="2400" dirty="0"/>
          </a:p>
        </p:txBody>
      </p:sp>
      <p:sp>
        <p:nvSpPr>
          <p:cNvPr id="4" name="Text 2"/>
          <p:cNvSpPr txBox="1"/>
          <p:nvPr/>
        </p:nvSpPr>
        <p:spPr>
          <a:xfrm>
            <a:off x="457200" y="685800"/>
            <a:ext cx="8229600" cy="274320"/>
          </a:xfrm>
          <a:prstGeom prst="rect">
            <a:avLst/>
          </a:prstGeom>
          <a:noFill/>
          <a:ln/>
        </p:spPr>
        <p:txBody>
          <a:bodyPr wrap="square" lIns="0" tIns="0" rIns="0" bIns="0" rtlCol="0" anchor="t"/>
          <a:lstStyle/>
          <a:p>
            <a:pPr indent="0" marL="0">
              <a:buNone/>
            </a:pPr>
            <a:r>
              <a:rPr lang="en-US" sz="1400" dirty="0">
                <a:solidFill>
                  <a:srgbClr val="64748B"/>
                </a:solidFill>
                <a:latin typeface="Times New Roman" pitchFamily="34" charset="0"/>
                <a:ea typeface="Times New Roman" pitchFamily="34" charset="-122"/>
                <a:cs typeface="Times New Roman" pitchFamily="34" charset="-120"/>
              </a:rPr>
              <a:t>The main controller of the prototype</a:t>
            </a:r>
            <a:endParaRPr lang="en-US" sz="1400" dirty="0"/>
          </a:p>
        </p:txBody>
      </p:sp>
      <p:sp>
        <p:nvSpPr>
          <p:cNvPr id="5" name="Text 3"/>
          <p:cNvSpPr txBox="1"/>
          <p:nvPr/>
        </p:nvSpPr>
        <p:spPr>
          <a:xfrm>
            <a:off x="457200" y="4828032"/>
            <a:ext cx="6400800" cy="228600"/>
          </a:xfrm>
          <a:prstGeom prst="rect">
            <a:avLst/>
          </a:prstGeom>
          <a:noFill/>
          <a:ln/>
        </p:spPr>
        <p:txBody>
          <a:bodyPr wrap="square" lIns="0" tIns="0" rIns="0" bIns="0" rtlCol="0" anchor="t"/>
          <a:lstStyle/>
          <a:p>
            <a:pPr indent="0" marL="0">
              <a:buNone/>
            </a:pPr>
            <a:r>
              <a:rPr lang="en-US" sz="900" dirty="0">
                <a:solidFill>
                  <a:srgbClr val="64748B"/>
                </a:solidFill>
                <a:latin typeface="Times New Roman" pitchFamily="34" charset="0"/>
                <a:ea typeface="Times New Roman" pitchFamily="34" charset="-122"/>
                <a:cs typeface="Times New Roman" pitchFamily="34" charset="-120"/>
              </a:rPr>
              <a:t>IoT-Based Smart Women’s Safety Belt  |  Hardware Implementation</a:t>
            </a:r>
            <a:endParaRPr lang="en-US" sz="900" dirty="0"/>
          </a:p>
        </p:txBody>
      </p:sp>
      <p:sp>
        <p:nvSpPr>
          <p:cNvPr id="6" name="Text 4"/>
          <p:cNvSpPr txBox="1"/>
          <p:nvPr/>
        </p:nvSpPr>
        <p:spPr>
          <a:xfrm>
            <a:off x="8229600" y="4828032"/>
            <a:ext cx="457200" cy="228600"/>
          </a:xfrm>
          <a:prstGeom prst="rect">
            <a:avLst/>
          </a:prstGeom>
          <a:noFill/>
          <a:ln/>
        </p:spPr>
        <p:txBody>
          <a:bodyPr wrap="square" lIns="0" tIns="0" rIns="0" bIns="0" rtlCol="0" anchor="t"/>
          <a:lstStyle/>
          <a:p>
            <a:pPr algn="r" indent="0" marL="0">
              <a:buNone/>
            </a:pPr>
            <a:r>
              <a:rPr lang="en-US" sz="900" dirty="0">
                <a:solidFill>
                  <a:srgbClr val="64748B"/>
                </a:solidFill>
                <a:latin typeface="Times New Roman" pitchFamily="34" charset="0"/>
                <a:ea typeface="Times New Roman" pitchFamily="34" charset="-122"/>
                <a:cs typeface="Times New Roman" pitchFamily="34" charset="-120"/>
              </a:rPr>
              <a:t>4</a:t>
            </a:r>
            <a:endParaRPr lang="en-US" sz="900" dirty="0"/>
          </a:p>
        </p:txBody>
      </p:sp>
      <p:sp>
        <p:nvSpPr>
          <p:cNvPr id="7" name="Shape 5"/>
          <p:cNvSpPr/>
          <p:nvPr/>
        </p:nvSpPr>
        <p:spPr>
          <a:xfrm>
            <a:off x="457200" y="1280160"/>
            <a:ext cx="4206240" cy="3291840"/>
          </a:xfrm>
          <a:prstGeom prst="roundRect">
            <a:avLst>
              <a:gd name="adj" fmla="val 2222"/>
            </a:avLst>
          </a:prstGeom>
          <a:solidFill>
            <a:srgbClr val="FFFFFF"/>
          </a:solidFill>
          <a:ln w="9525">
            <a:solidFill>
              <a:srgbClr val="D5DEE8"/>
            </a:solidFill>
            <a:prstDash val="solid"/>
          </a:ln>
        </p:spPr>
      </p:sp>
      <p:pic>
        <p:nvPicPr>
          <p:cNvPr id="8" name="Image 0" descr="esp 3D illustration">    </p:cNvPr>
          <p:cNvPicPr>
            <a:picLocks noChangeAspect="1"/>
          </p:cNvPicPr>
          <p:nvPr/>
        </p:nvPicPr>
        <p:blipFill>
          <a:blip r:embed="rId1"/>
          <a:stretch>
            <a:fillRect/>
          </a:stretch>
        </p:blipFill>
        <p:spPr>
          <a:xfrm>
            <a:off x="1136941" y="1783080"/>
            <a:ext cx="2846759" cy="2011680"/>
          </a:xfrm>
          <a:prstGeom prst="rect">
            <a:avLst/>
          </a:prstGeom>
        </p:spPr>
      </p:pic>
      <p:sp>
        <p:nvSpPr>
          <p:cNvPr id="9" name="Text 6"/>
          <p:cNvSpPr txBox="1"/>
          <p:nvPr/>
        </p:nvSpPr>
        <p:spPr>
          <a:xfrm>
            <a:off x="3246120" y="3611880"/>
            <a:ext cx="1371600" cy="365760"/>
          </a:xfrm>
          <a:prstGeom prst="rect">
            <a:avLst/>
          </a:prstGeom>
          <a:noFill/>
          <a:ln/>
        </p:spPr>
        <p:txBody>
          <a:bodyPr wrap="square" lIns="0" tIns="0" rIns="0" bIns="0" rtlCol="0" anchor="t"/>
          <a:lstStyle/>
          <a:p>
            <a:pPr indent="0" marL="0">
              <a:buNone/>
            </a:pPr>
            <a:r>
              <a:rPr lang="en-US" sz="1050" b="1" dirty="0">
                <a:solidFill>
                  <a:srgbClr val="0B2545"/>
                </a:solidFill>
                <a:latin typeface="Times New Roman" pitchFamily="34" charset="0"/>
                <a:ea typeface="Times New Roman" pitchFamily="34" charset="-122"/>
                <a:cs typeface="Times New Roman" pitchFamily="34" charset="-120"/>
              </a:rPr>
              <a:t>USB-C port → computer</a:t>
            </a:r>
            <a:endParaRPr lang="en-US" sz="1050" dirty="0"/>
          </a:p>
        </p:txBody>
      </p:sp>
      <p:sp>
        <p:nvSpPr>
          <p:cNvPr id="10" name="Shape 7"/>
          <p:cNvSpPr/>
          <p:nvPr/>
        </p:nvSpPr>
        <p:spPr>
          <a:xfrm>
            <a:off x="3275696" y="2937648"/>
            <a:ext cx="91440" cy="674232"/>
          </a:xfrm>
          <a:prstGeom prst="line">
            <a:avLst/>
          </a:prstGeom>
          <a:noFill/>
          <a:ln w="12700">
            <a:solidFill>
              <a:srgbClr val="0B2545"/>
            </a:solidFill>
            <a:prstDash val="solid"/>
          </a:ln>
        </p:spPr>
      </p:sp>
      <p:sp>
        <p:nvSpPr>
          <p:cNvPr id="11" name="Text 8"/>
          <p:cNvSpPr txBox="1"/>
          <p:nvPr/>
        </p:nvSpPr>
        <p:spPr>
          <a:xfrm>
            <a:off x="640080" y="1417320"/>
            <a:ext cx="2194560" cy="228600"/>
          </a:xfrm>
          <a:prstGeom prst="rect">
            <a:avLst/>
          </a:prstGeom>
          <a:noFill/>
          <a:ln/>
        </p:spPr>
        <p:txBody>
          <a:bodyPr wrap="square" lIns="0" tIns="0" rIns="0" bIns="0" rtlCol="0" anchor="t"/>
          <a:lstStyle/>
          <a:p>
            <a:pPr indent="0" marL="0">
              <a:buNone/>
            </a:pPr>
            <a:r>
              <a:rPr lang="en-US" sz="1100" b="1" dirty="0">
                <a:solidFill>
                  <a:srgbClr val="0B2545"/>
                </a:solidFill>
                <a:latin typeface="Times New Roman" pitchFamily="34" charset="0"/>
                <a:ea typeface="Times New Roman" pitchFamily="34" charset="-122"/>
                <a:cs typeface="Times New Roman" pitchFamily="34" charset="-120"/>
              </a:rPr>
              <a:t>GPIO pins (input / output)</a:t>
            </a:r>
            <a:endParaRPr lang="en-US" sz="1100" dirty="0"/>
          </a:p>
        </p:txBody>
      </p:sp>
      <p:sp>
        <p:nvSpPr>
          <p:cNvPr id="12" name="Shape 9"/>
          <p:cNvSpPr/>
          <p:nvPr/>
        </p:nvSpPr>
        <p:spPr>
          <a:xfrm>
            <a:off x="1645920" y="1664208"/>
            <a:ext cx="1177538" cy="509971"/>
          </a:xfrm>
          <a:prstGeom prst="line">
            <a:avLst/>
          </a:prstGeom>
          <a:noFill/>
          <a:ln w="12700">
            <a:solidFill>
              <a:srgbClr val="0B2545"/>
            </a:solidFill>
            <a:prstDash val="solid"/>
          </a:ln>
        </p:spPr>
      </p:sp>
      <p:sp>
        <p:nvSpPr>
          <p:cNvPr id="13" name="Text 10"/>
          <p:cNvSpPr txBox="1"/>
          <p:nvPr/>
        </p:nvSpPr>
        <p:spPr>
          <a:xfrm>
            <a:off x="640080" y="3931920"/>
            <a:ext cx="1463040" cy="228600"/>
          </a:xfrm>
          <a:prstGeom prst="rect">
            <a:avLst/>
          </a:prstGeom>
          <a:noFill/>
          <a:ln/>
        </p:spPr>
        <p:txBody>
          <a:bodyPr wrap="square" lIns="0" tIns="0" rIns="0" bIns="0" rtlCol="0" anchor="t"/>
          <a:lstStyle/>
          <a:p>
            <a:pPr indent="0" marL="0">
              <a:buNone/>
            </a:pPr>
            <a:r>
              <a:rPr lang="en-US" sz="1100" b="1" dirty="0">
                <a:solidFill>
                  <a:srgbClr val="0B2545"/>
                </a:solidFill>
                <a:latin typeface="Times New Roman" pitchFamily="34" charset="0"/>
                <a:ea typeface="Times New Roman" pitchFamily="34" charset="-122"/>
                <a:cs typeface="Times New Roman" pitchFamily="34" charset="-120"/>
              </a:rPr>
              <a:t>ESP32-C3 chip</a:t>
            </a:r>
            <a:endParaRPr lang="en-US" sz="1100" dirty="0"/>
          </a:p>
        </p:txBody>
      </p:sp>
      <p:sp>
        <p:nvSpPr>
          <p:cNvPr id="14" name="Shape 11"/>
          <p:cNvSpPr/>
          <p:nvPr/>
        </p:nvSpPr>
        <p:spPr>
          <a:xfrm flipV="1">
            <a:off x="1371600" y="2438584"/>
            <a:ext cx="1074039" cy="1493336"/>
          </a:xfrm>
          <a:prstGeom prst="line">
            <a:avLst/>
          </a:prstGeom>
          <a:noFill/>
          <a:ln w="12700">
            <a:solidFill>
              <a:srgbClr val="0B2545"/>
            </a:solidFill>
            <a:prstDash val="solid"/>
          </a:ln>
        </p:spPr>
      </p:sp>
      <p:sp>
        <p:nvSpPr>
          <p:cNvPr id="15" name="Text 12"/>
          <p:cNvSpPr txBox="1"/>
          <p:nvPr/>
        </p:nvSpPr>
        <p:spPr>
          <a:xfrm>
            <a:off x="548640" y="4297680"/>
            <a:ext cx="4023360" cy="228600"/>
          </a:xfrm>
          <a:prstGeom prst="rect">
            <a:avLst/>
          </a:prstGeom>
          <a:noFill/>
          <a:ln/>
        </p:spPr>
        <p:txBody>
          <a:bodyPr wrap="square" lIns="0" tIns="0" rIns="0" bIns="0" rtlCol="0" anchor="t"/>
          <a:lstStyle/>
          <a:p>
            <a:pPr algn="ctr" indent="0" marL="0">
              <a:buNone/>
            </a:pPr>
            <a:r>
              <a:rPr lang="en-US" sz="950" dirty="0">
                <a:solidFill>
                  <a:srgbClr val="64748B"/>
                </a:solidFill>
                <a:latin typeface="Times New Roman" pitchFamily="34" charset="0"/>
                <a:ea typeface="Times New Roman" pitchFamily="34" charset="-122"/>
                <a:cs typeface="Times New Roman" pitchFamily="34" charset="-120"/>
              </a:rPr>
              <a:t>Simplified illustration – not to scale</a:t>
            </a:r>
            <a:endParaRPr lang="en-US" sz="950" dirty="0"/>
          </a:p>
        </p:txBody>
      </p:sp>
      <p:sp>
        <p:nvSpPr>
          <p:cNvPr id="16" name="Text 13"/>
          <p:cNvSpPr txBox="1"/>
          <p:nvPr/>
        </p:nvSpPr>
        <p:spPr>
          <a:xfrm>
            <a:off x="4892040" y="1280160"/>
            <a:ext cx="3794760" cy="3291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Microcontroller: a tiny programmable computer on a chip that reads inputs and controls outputs.</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Role: main controller; runs the program and coordinates the hardware.</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Pins: an input pin reads a signal (e.g. button); an output pin sends one. GPIO = General-Purpose Input/Output.</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Connections: SOS button on a GPIO pin; GPS module on UART TX/RX pins; MPU6050 on I2C SDA/SCL pins.</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USB: connects the board to the computer for serial data transfer.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3A89E"/>
          </a:solidFill>
          <a:ln w="9525">
            <a:solidFill>
              <a:srgbClr val="13A89E"/>
            </a:solidFill>
            <a:prstDash val="solid"/>
          </a:ln>
        </p:spPr>
      </p:sp>
      <p:sp>
        <p:nvSpPr>
          <p:cNvPr id="3" name="Text 1"/>
          <p:cNvSpPr txBox="1"/>
          <p:nvPr/>
        </p:nvSpPr>
        <p:spPr>
          <a:xfrm>
            <a:off x="457200" y="228600"/>
            <a:ext cx="8229600" cy="457200"/>
          </a:xfrm>
          <a:prstGeom prst="rect">
            <a:avLst/>
          </a:prstGeom>
          <a:noFill/>
          <a:ln/>
        </p:spPr>
        <p:txBody>
          <a:bodyPr wrap="square" lIns="0" tIns="0" rIns="0" bIns="0" rtlCol="0" anchor="ctr"/>
          <a:lstStyle/>
          <a:p>
            <a:pPr indent="0" marL="0">
              <a:buNone/>
            </a:pPr>
            <a:r>
              <a:rPr lang="en-US" sz="2400" b="1" dirty="0">
                <a:solidFill>
                  <a:srgbClr val="0B2545"/>
                </a:solidFill>
                <a:latin typeface="Times New Roman" pitchFamily="34" charset="0"/>
                <a:ea typeface="Times New Roman" pitchFamily="34" charset="-122"/>
                <a:cs typeface="Times New Roman" pitchFamily="34" charset="-120"/>
              </a:rPr>
              <a:t>GPS Module</a:t>
            </a:r>
            <a:endParaRPr lang="en-US" sz="2400" dirty="0"/>
          </a:p>
        </p:txBody>
      </p:sp>
      <p:sp>
        <p:nvSpPr>
          <p:cNvPr id="4" name="Text 2"/>
          <p:cNvSpPr txBox="1"/>
          <p:nvPr/>
        </p:nvSpPr>
        <p:spPr>
          <a:xfrm>
            <a:off x="457200" y="685800"/>
            <a:ext cx="8229600" cy="274320"/>
          </a:xfrm>
          <a:prstGeom prst="rect">
            <a:avLst/>
          </a:prstGeom>
          <a:noFill/>
          <a:ln/>
        </p:spPr>
        <p:txBody>
          <a:bodyPr wrap="square" lIns="0" tIns="0" rIns="0" bIns="0" rtlCol="0" anchor="t"/>
          <a:lstStyle/>
          <a:p>
            <a:pPr indent="0" marL="0">
              <a:buNone/>
            </a:pPr>
            <a:r>
              <a:rPr lang="en-US" sz="1400" dirty="0">
                <a:solidFill>
                  <a:srgbClr val="64748B"/>
                </a:solidFill>
                <a:latin typeface="Times New Roman" pitchFamily="34" charset="0"/>
                <a:ea typeface="Times New Roman" pitchFamily="34" charset="-122"/>
                <a:cs typeface="Times New Roman" pitchFamily="34" charset="-120"/>
              </a:rPr>
              <a:t>Location acquisition – it determines position, it does not send messages</a:t>
            </a:r>
            <a:endParaRPr lang="en-US" sz="1400" dirty="0"/>
          </a:p>
        </p:txBody>
      </p:sp>
      <p:sp>
        <p:nvSpPr>
          <p:cNvPr id="5" name="Text 3"/>
          <p:cNvSpPr txBox="1"/>
          <p:nvPr/>
        </p:nvSpPr>
        <p:spPr>
          <a:xfrm>
            <a:off x="457200" y="4828032"/>
            <a:ext cx="6400800" cy="228600"/>
          </a:xfrm>
          <a:prstGeom prst="rect">
            <a:avLst/>
          </a:prstGeom>
          <a:noFill/>
          <a:ln/>
        </p:spPr>
        <p:txBody>
          <a:bodyPr wrap="square" lIns="0" tIns="0" rIns="0" bIns="0" rtlCol="0" anchor="t"/>
          <a:lstStyle/>
          <a:p>
            <a:pPr indent="0" marL="0">
              <a:buNone/>
            </a:pPr>
            <a:r>
              <a:rPr lang="en-US" sz="900" dirty="0">
                <a:solidFill>
                  <a:srgbClr val="64748B"/>
                </a:solidFill>
                <a:latin typeface="Times New Roman" pitchFamily="34" charset="0"/>
                <a:ea typeface="Times New Roman" pitchFamily="34" charset="-122"/>
                <a:cs typeface="Times New Roman" pitchFamily="34" charset="-120"/>
              </a:rPr>
              <a:t>IoT-Based Smart Women’s Safety Belt  |  Hardware Implementation</a:t>
            </a:r>
            <a:endParaRPr lang="en-US" sz="900" dirty="0"/>
          </a:p>
        </p:txBody>
      </p:sp>
      <p:sp>
        <p:nvSpPr>
          <p:cNvPr id="6" name="Text 4"/>
          <p:cNvSpPr txBox="1"/>
          <p:nvPr/>
        </p:nvSpPr>
        <p:spPr>
          <a:xfrm>
            <a:off x="8229600" y="4828032"/>
            <a:ext cx="457200" cy="228600"/>
          </a:xfrm>
          <a:prstGeom prst="rect">
            <a:avLst/>
          </a:prstGeom>
          <a:noFill/>
          <a:ln/>
        </p:spPr>
        <p:txBody>
          <a:bodyPr wrap="square" lIns="0" tIns="0" rIns="0" bIns="0" rtlCol="0" anchor="t"/>
          <a:lstStyle/>
          <a:p>
            <a:pPr algn="r" indent="0" marL="0">
              <a:buNone/>
            </a:pPr>
            <a:r>
              <a:rPr lang="en-US" sz="900" dirty="0">
                <a:solidFill>
                  <a:srgbClr val="64748B"/>
                </a:solidFill>
                <a:latin typeface="Times New Roman" pitchFamily="34" charset="0"/>
                <a:ea typeface="Times New Roman" pitchFamily="34" charset="-122"/>
                <a:cs typeface="Times New Roman" pitchFamily="34" charset="-120"/>
              </a:rPr>
              <a:t>5</a:t>
            </a:r>
            <a:endParaRPr lang="en-US" sz="900" dirty="0"/>
          </a:p>
        </p:txBody>
      </p:sp>
      <p:sp>
        <p:nvSpPr>
          <p:cNvPr id="7" name="Text 5"/>
          <p:cNvSpPr txBox="1"/>
          <p:nvPr/>
        </p:nvSpPr>
        <p:spPr>
          <a:xfrm>
            <a:off x="457200" y="1280160"/>
            <a:ext cx="4206240" cy="3291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GPS: Global Positioning System – a network of satellites orbiting Earth.</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How it works: the module receives satellite signals and calculates its position from them.</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Latitude: position north or south of the equator.</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Longitude: position east or west of the prime meridian.</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Limit: GPS only finds location; it does not message anyone. Performance depends on satellite visibility.</a:t>
            </a:r>
            <a:endParaRPr lang="en-US" sz="1400" dirty="0"/>
          </a:p>
        </p:txBody>
      </p:sp>
      <p:sp>
        <p:nvSpPr>
          <p:cNvPr id="8" name="Shape 6"/>
          <p:cNvSpPr/>
          <p:nvPr/>
        </p:nvSpPr>
        <p:spPr>
          <a:xfrm>
            <a:off x="4937760" y="1280160"/>
            <a:ext cx="3749040" cy="3291840"/>
          </a:xfrm>
          <a:prstGeom prst="roundRect">
            <a:avLst>
              <a:gd name="adj" fmla="val 2222"/>
            </a:avLst>
          </a:prstGeom>
          <a:solidFill>
            <a:srgbClr val="FFFFFF"/>
          </a:solidFill>
          <a:ln w="9525">
            <a:solidFill>
              <a:srgbClr val="D5DEE8"/>
            </a:solidFill>
            <a:prstDash val="solid"/>
          </a:ln>
        </p:spPr>
      </p:sp>
      <p:sp>
        <p:nvSpPr>
          <p:cNvPr id="9" name="Shape 7"/>
          <p:cNvSpPr/>
          <p:nvPr/>
        </p:nvSpPr>
        <p:spPr>
          <a:xfrm>
            <a:off x="5394960" y="1508760"/>
            <a:ext cx="365760" cy="228600"/>
          </a:xfrm>
          <a:prstGeom prst="roundRect">
            <a:avLst>
              <a:gd name="adj" fmla="val 32000"/>
            </a:avLst>
          </a:prstGeom>
          <a:solidFill>
            <a:srgbClr val="2B4C7E"/>
          </a:solidFill>
          <a:ln w="9525">
            <a:solidFill>
              <a:srgbClr val="2B4C7E"/>
            </a:solidFill>
            <a:prstDash val="solid"/>
          </a:ln>
        </p:spPr>
      </p:sp>
      <p:sp>
        <p:nvSpPr>
          <p:cNvPr id="10" name="Shape 8"/>
          <p:cNvSpPr/>
          <p:nvPr/>
        </p:nvSpPr>
        <p:spPr>
          <a:xfrm>
            <a:off x="5257800" y="1581912"/>
            <a:ext cx="137160" cy="91440"/>
          </a:xfrm>
          <a:prstGeom prst="rect">
            <a:avLst/>
          </a:prstGeom>
          <a:solidFill>
            <a:srgbClr val="13A89E"/>
          </a:solidFill>
          <a:ln w="9525">
            <a:solidFill>
              <a:srgbClr val="13A89E"/>
            </a:solidFill>
            <a:prstDash val="solid"/>
          </a:ln>
        </p:spPr>
      </p:sp>
      <p:sp>
        <p:nvSpPr>
          <p:cNvPr id="11" name="Shape 9"/>
          <p:cNvSpPr/>
          <p:nvPr/>
        </p:nvSpPr>
        <p:spPr>
          <a:xfrm>
            <a:off x="5760720" y="1581912"/>
            <a:ext cx="137160" cy="91440"/>
          </a:xfrm>
          <a:prstGeom prst="rect">
            <a:avLst/>
          </a:prstGeom>
          <a:solidFill>
            <a:srgbClr val="13A89E"/>
          </a:solidFill>
          <a:ln w="9525">
            <a:solidFill>
              <a:srgbClr val="13A89E"/>
            </a:solidFill>
            <a:prstDash val="solid"/>
          </a:ln>
        </p:spPr>
      </p:sp>
      <p:sp>
        <p:nvSpPr>
          <p:cNvPr id="12" name="Shape 10"/>
          <p:cNvSpPr/>
          <p:nvPr/>
        </p:nvSpPr>
        <p:spPr>
          <a:xfrm>
            <a:off x="5577840" y="1737360"/>
            <a:ext cx="1234440" cy="777240"/>
          </a:xfrm>
          <a:prstGeom prst="line">
            <a:avLst/>
          </a:prstGeom>
          <a:noFill/>
          <a:ln w="12700">
            <a:solidFill>
              <a:srgbClr val="13A89E"/>
            </a:solidFill>
            <a:prstDash val="dash"/>
          </a:ln>
        </p:spPr>
      </p:sp>
      <p:sp>
        <p:nvSpPr>
          <p:cNvPr id="13" name="Shape 11"/>
          <p:cNvSpPr/>
          <p:nvPr/>
        </p:nvSpPr>
        <p:spPr>
          <a:xfrm>
            <a:off x="6675120" y="1417320"/>
            <a:ext cx="365760" cy="228600"/>
          </a:xfrm>
          <a:prstGeom prst="roundRect">
            <a:avLst>
              <a:gd name="adj" fmla="val 32000"/>
            </a:avLst>
          </a:prstGeom>
          <a:solidFill>
            <a:srgbClr val="2B4C7E"/>
          </a:solidFill>
          <a:ln w="9525">
            <a:solidFill>
              <a:srgbClr val="2B4C7E"/>
            </a:solidFill>
            <a:prstDash val="solid"/>
          </a:ln>
        </p:spPr>
      </p:sp>
      <p:sp>
        <p:nvSpPr>
          <p:cNvPr id="14" name="Shape 12"/>
          <p:cNvSpPr/>
          <p:nvPr/>
        </p:nvSpPr>
        <p:spPr>
          <a:xfrm>
            <a:off x="6537960" y="1490472"/>
            <a:ext cx="137160" cy="91440"/>
          </a:xfrm>
          <a:prstGeom prst="rect">
            <a:avLst/>
          </a:prstGeom>
          <a:solidFill>
            <a:srgbClr val="13A89E"/>
          </a:solidFill>
          <a:ln w="9525">
            <a:solidFill>
              <a:srgbClr val="13A89E"/>
            </a:solidFill>
            <a:prstDash val="solid"/>
          </a:ln>
        </p:spPr>
      </p:sp>
      <p:sp>
        <p:nvSpPr>
          <p:cNvPr id="15" name="Shape 13"/>
          <p:cNvSpPr/>
          <p:nvPr/>
        </p:nvSpPr>
        <p:spPr>
          <a:xfrm>
            <a:off x="7040880" y="1490472"/>
            <a:ext cx="137160" cy="91440"/>
          </a:xfrm>
          <a:prstGeom prst="rect">
            <a:avLst/>
          </a:prstGeom>
          <a:solidFill>
            <a:srgbClr val="13A89E"/>
          </a:solidFill>
          <a:ln w="9525">
            <a:solidFill>
              <a:srgbClr val="13A89E"/>
            </a:solidFill>
            <a:prstDash val="solid"/>
          </a:ln>
        </p:spPr>
      </p:sp>
      <p:sp>
        <p:nvSpPr>
          <p:cNvPr id="16" name="Shape 14"/>
          <p:cNvSpPr/>
          <p:nvPr/>
        </p:nvSpPr>
        <p:spPr>
          <a:xfrm>
            <a:off x="6858000" y="1645920"/>
            <a:ext cx="-45720" cy="868680"/>
          </a:xfrm>
          <a:prstGeom prst="line">
            <a:avLst/>
          </a:prstGeom>
          <a:noFill/>
          <a:ln w="12700">
            <a:solidFill>
              <a:srgbClr val="13A89E"/>
            </a:solidFill>
            <a:prstDash val="dash"/>
          </a:ln>
        </p:spPr>
      </p:sp>
      <p:sp>
        <p:nvSpPr>
          <p:cNvPr id="17" name="Shape 15"/>
          <p:cNvSpPr/>
          <p:nvPr/>
        </p:nvSpPr>
        <p:spPr>
          <a:xfrm>
            <a:off x="7863840" y="1600200"/>
            <a:ext cx="365760" cy="228600"/>
          </a:xfrm>
          <a:prstGeom prst="roundRect">
            <a:avLst>
              <a:gd name="adj" fmla="val 32000"/>
            </a:avLst>
          </a:prstGeom>
          <a:solidFill>
            <a:srgbClr val="2B4C7E"/>
          </a:solidFill>
          <a:ln w="9525">
            <a:solidFill>
              <a:srgbClr val="2B4C7E"/>
            </a:solidFill>
            <a:prstDash val="solid"/>
          </a:ln>
        </p:spPr>
      </p:sp>
      <p:sp>
        <p:nvSpPr>
          <p:cNvPr id="18" name="Shape 16"/>
          <p:cNvSpPr/>
          <p:nvPr/>
        </p:nvSpPr>
        <p:spPr>
          <a:xfrm>
            <a:off x="7726680" y="1673352"/>
            <a:ext cx="137160" cy="91440"/>
          </a:xfrm>
          <a:prstGeom prst="rect">
            <a:avLst/>
          </a:prstGeom>
          <a:solidFill>
            <a:srgbClr val="13A89E"/>
          </a:solidFill>
          <a:ln w="9525">
            <a:solidFill>
              <a:srgbClr val="13A89E"/>
            </a:solidFill>
            <a:prstDash val="solid"/>
          </a:ln>
        </p:spPr>
      </p:sp>
      <p:sp>
        <p:nvSpPr>
          <p:cNvPr id="19" name="Shape 17"/>
          <p:cNvSpPr/>
          <p:nvPr/>
        </p:nvSpPr>
        <p:spPr>
          <a:xfrm>
            <a:off x="8229600" y="1673352"/>
            <a:ext cx="137160" cy="91440"/>
          </a:xfrm>
          <a:prstGeom prst="rect">
            <a:avLst/>
          </a:prstGeom>
          <a:solidFill>
            <a:srgbClr val="13A89E"/>
          </a:solidFill>
          <a:ln w="9525">
            <a:solidFill>
              <a:srgbClr val="13A89E"/>
            </a:solidFill>
            <a:prstDash val="solid"/>
          </a:ln>
        </p:spPr>
      </p:sp>
      <p:sp>
        <p:nvSpPr>
          <p:cNvPr id="20" name="Shape 18"/>
          <p:cNvSpPr/>
          <p:nvPr/>
        </p:nvSpPr>
        <p:spPr>
          <a:xfrm>
            <a:off x="8046720" y="1828800"/>
            <a:ext cx="-1234440" cy="685800"/>
          </a:xfrm>
          <a:prstGeom prst="line">
            <a:avLst/>
          </a:prstGeom>
          <a:noFill/>
          <a:ln w="12700">
            <a:solidFill>
              <a:srgbClr val="13A89E"/>
            </a:solidFill>
            <a:prstDash val="dash"/>
          </a:ln>
        </p:spPr>
      </p:sp>
      <p:sp>
        <p:nvSpPr>
          <p:cNvPr id="21" name="Text 19"/>
          <p:cNvSpPr txBox="1"/>
          <p:nvPr/>
        </p:nvSpPr>
        <p:spPr>
          <a:xfrm>
            <a:off x="5029200" y="1280160"/>
            <a:ext cx="1097280" cy="182880"/>
          </a:xfrm>
          <a:prstGeom prst="rect">
            <a:avLst/>
          </a:prstGeom>
          <a:noFill/>
          <a:ln/>
        </p:spPr>
        <p:txBody>
          <a:bodyPr wrap="square" lIns="0" tIns="0" rIns="0" bIns="0" rtlCol="0" anchor="t"/>
          <a:lstStyle/>
          <a:p>
            <a:pPr indent="0" marL="0">
              <a:buNone/>
            </a:pPr>
            <a:r>
              <a:rPr lang="en-US" sz="950" dirty="0">
                <a:solidFill>
                  <a:srgbClr val="64748B"/>
                </a:solidFill>
                <a:latin typeface="Times New Roman" pitchFamily="34" charset="0"/>
                <a:ea typeface="Times New Roman" pitchFamily="34" charset="-122"/>
                <a:cs typeface="Times New Roman" pitchFamily="34" charset="-120"/>
              </a:rPr>
              <a:t>Satellites</a:t>
            </a:r>
            <a:endParaRPr lang="en-US" sz="950" dirty="0"/>
          </a:p>
        </p:txBody>
      </p:sp>
      <p:pic>
        <p:nvPicPr>
          <p:cNvPr id="22" name="Image 0" descr="gps 3D illustration">    </p:cNvPr>
          <p:cNvPicPr>
            <a:picLocks noChangeAspect="1"/>
          </p:cNvPicPr>
          <p:nvPr/>
        </p:nvPicPr>
        <p:blipFill>
          <a:blip r:embed="rId1"/>
          <a:stretch>
            <a:fillRect/>
          </a:stretch>
        </p:blipFill>
        <p:spPr>
          <a:xfrm>
            <a:off x="6159137" y="2560320"/>
            <a:ext cx="1306286" cy="914400"/>
          </a:xfrm>
          <a:prstGeom prst="rect">
            <a:avLst/>
          </a:prstGeom>
        </p:spPr>
      </p:pic>
      <p:sp>
        <p:nvSpPr>
          <p:cNvPr id="23" name="Shape 20"/>
          <p:cNvSpPr/>
          <p:nvPr/>
        </p:nvSpPr>
        <p:spPr>
          <a:xfrm>
            <a:off x="5166360" y="3520440"/>
            <a:ext cx="3291840" cy="868680"/>
          </a:xfrm>
          <a:prstGeom prst="roundRect">
            <a:avLst>
              <a:gd name="adj" fmla="val 8421"/>
            </a:avLst>
          </a:prstGeom>
          <a:solidFill>
            <a:srgbClr val="E3F4F2"/>
          </a:solidFill>
          <a:ln w="9525">
            <a:solidFill>
              <a:srgbClr val="13A89E"/>
            </a:solidFill>
            <a:prstDash val="solid"/>
          </a:ln>
        </p:spPr>
      </p:sp>
      <p:sp>
        <p:nvSpPr>
          <p:cNvPr id="24" name="Text 21"/>
          <p:cNvSpPr txBox="1"/>
          <p:nvPr/>
        </p:nvSpPr>
        <p:spPr>
          <a:xfrm>
            <a:off x="5257800" y="3566160"/>
            <a:ext cx="3108960" cy="228600"/>
          </a:xfrm>
          <a:prstGeom prst="rect">
            <a:avLst/>
          </a:prstGeom>
          <a:noFill/>
          <a:ln/>
        </p:spPr>
        <p:txBody>
          <a:bodyPr wrap="square" lIns="0" tIns="0" rIns="0" bIns="0" rtlCol="0" anchor="t"/>
          <a:lstStyle/>
          <a:p>
            <a:pPr indent="0" marL="0">
              <a:buNone/>
            </a:pPr>
            <a:r>
              <a:rPr lang="en-US" sz="1050" b="1" dirty="0">
                <a:solidFill>
                  <a:srgbClr val="0F766E"/>
                </a:solidFill>
                <a:latin typeface="Times New Roman" pitchFamily="34" charset="0"/>
                <a:ea typeface="Times New Roman" pitchFamily="34" charset="-122"/>
                <a:cs typeface="Times New Roman" pitchFamily="34" charset="-120"/>
              </a:rPr>
              <a:t>Sample coordinates (illustrative only)</a:t>
            </a:r>
            <a:endParaRPr lang="en-US" sz="1050" dirty="0"/>
          </a:p>
        </p:txBody>
      </p:sp>
      <p:sp>
        <p:nvSpPr>
          <p:cNvPr id="25" name="Text 22"/>
          <p:cNvSpPr txBox="1"/>
          <p:nvPr/>
        </p:nvSpPr>
        <p:spPr>
          <a:xfrm>
            <a:off x="5257800" y="3813048"/>
            <a:ext cx="3108960" cy="502920"/>
          </a:xfrm>
          <a:prstGeom prst="rect">
            <a:avLst/>
          </a:prstGeom>
          <a:noFill/>
          <a:ln/>
        </p:spPr>
        <p:txBody>
          <a:bodyPr wrap="square" lIns="0" tIns="0" rIns="0" bIns="0" rtlCol="0" anchor="t"/>
          <a:lstStyle/>
          <a:p>
            <a:pPr indent="0" marL="0">
              <a:buNone/>
            </a:pPr>
            <a:r>
              <a:rPr lang="en-US" sz="1400" b="1" dirty="0">
                <a:solidFill>
                  <a:srgbClr val="0B2545"/>
                </a:solidFill>
                <a:latin typeface="Times New Roman" pitchFamily="34" charset="0"/>
                <a:ea typeface="Times New Roman" pitchFamily="34" charset="-122"/>
                <a:cs typeface="Times New Roman" pitchFamily="34" charset="-120"/>
              </a:rPr>
              <a:t>Latitude: 19.0000° N</a:t>
            </a:r>
            <a:endParaRPr lang="en-US" sz="1400" dirty="0"/>
          </a:p>
          <a:p>
            <a:pPr indent="0" marL="0">
              <a:buNone/>
            </a:pPr>
            <a:r>
              <a:rPr lang="en-US" sz="1400" b="1" dirty="0">
                <a:solidFill>
                  <a:srgbClr val="0B2545"/>
                </a:solidFill>
                <a:latin typeface="Times New Roman" pitchFamily="34" charset="0"/>
                <a:ea typeface="Times New Roman" pitchFamily="34" charset="-122"/>
                <a:cs typeface="Times New Roman" pitchFamily="34" charset="-120"/>
              </a:rPr>
              <a:t>Longitude: 73.0000° 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3A89E"/>
          </a:solidFill>
          <a:ln w="9525">
            <a:solidFill>
              <a:srgbClr val="13A89E"/>
            </a:solidFill>
            <a:prstDash val="solid"/>
          </a:ln>
        </p:spPr>
      </p:sp>
      <p:sp>
        <p:nvSpPr>
          <p:cNvPr id="3" name="Text 1"/>
          <p:cNvSpPr txBox="1"/>
          <p:nvPr/>
        </p:nvSpPr>
        <p:spPr>
          <a:xfrm>
            <a:off x="457200" y="228600"/>
            <a:ext cx="8229600" cy="457200"/>
          </a:xfrm>
          <a:prstGeom prst="rect">
            <a:avLst/>
          </a:prstGeom>
          <a:noFill/>
          <a:ln/>
        </p:spPr>
        <p:txBody>
          <a:bodyPr wrap="square" lIns="0" tIns="0" rIns="0" bIns="0" rtlCol="0" anchor="ctr"/>
          <a:lstStyle/>
          <a:p>
            <a:pPr indent="0" marL="0">
              <a:buNone/>
            </a:pPr>
            <a:r>
              <a:rPr lang="en-US" sz="2400" b="1" dirty="0">
                <a:solidFill>
                  <a:srgbClr val="0B2545"/>
                </a:solidFill>
                <a:latin typeface="Times New Roman" pitchFamily="34" charset="0"/>
                <a:ea typeface="Times New Roman" pitchFamily="34" charset="-122"/>
                <a:cs typeface="Times New Roman" pitchFamily="34" charset="-120"/>
              </a:rPr>
              <a:t>SOS Button and Its Working</a:t>
            </a:r>
            <a:endParaRPr lang="en-US" sz="2400" dirty="0"/>
          </a:p>
        </p:txBody>
      </p:sp>
      <p:sp>
        <p:nvSpPr>
          <p:cNvPr id="4" name="Text 2"/>
          <p:cNvSpPr txBox="1"/>
          <p:nvPr/>
        </p:nvSpPr>
        <p:spPr>
          <a:xfrm>
            <a:off x="457200" y="685800"/>
            <a:ext cx="8229600" cy="274320"/>
          </a:xfrm>
          <a:prstGeom prst="rect">
            <a:avLst/>
          </a:prstGeom>
          <a:noFill/>
          <a:ln/>
        </p:spPr>
        <p:txBody>
          <a:bodyPr wrap="square" lIns="0" tIns="0" rIns="0" bIns="0" rtlCol="0" anchor="t"/>
          <a:lstStyle/>
          <a:p>
            <a:pPr indent="0" marL="0">
              <a:buNone/>
            </a:pPr>
            <a:r>
              <a:rPr lang="en-US" sz="1400" dirty="0">
                <a:solidFill>
                  <a:srgbClr val="64748B"/>
                </a:solidFill>
                <a:latin typeface="Times New Roman" pitchFamily="34" charset="0"/>
                <a:ea typeface="Times New Roman" pitchFamily="34" charset="-122"/>
                <a:cs typeface="Times New Roman" pitchFamily="34" charset="-120"/>
              </a:rPr>
              <a:t>A digital input read by the ESP32-C3</a:t>
            </a:r>
            <a:endParaRPr lang="en-US" sz="1400" dirty="0"/>
          </a:p>
        </p:txBody>
      </p:sp>
      <p:sp>
        <p:nvSpPr>
          <p:cNvPr id="5" name="Text 3"/>
          <p:cNvSpPr txBox="1"/>
          <p:nvPr/>
        </p:nvSpPr>
        <p:spPr>
          <a:xfrm>
            <a:off x="457200" y="4828032"/>
            <a:ext cx="6400800" cy="228600"/>
          </a:xfrm>
          <a:prstGeom prst="rect">
            <a:avLst/>
          </a:prstGeom>
          <a:noFill/>
          <a:ln/>
        </p:spPr>
        <p:txBody>
          <a:bodyPr wrap="square" lIns="0" tIns="0" rIns="0" bIns="0" rtlCol="0" anchor="t"/>
          <a:lstStyle/>
          <a:p>
            <a:pPr indent="0" marL="0">
              <a:buNone/>
            </a:pPr>
            <a:r>
              <a:rPr lang="en-US" sz="900" dirty="0">
                <a:solidFill>
                  <a:srgbClr val="64748B"/>
                </a:solidFill>
                <a:latin typeface="Times New Roman" pitchFamily="34" charset="0"/>
                <a:ea typeface="Times New Roman" pitchFamily="34" charset="-122"/>
                <a:cs typeface="Times New Roman" pitchFamily="34" charset="-120"/>
              </a:rPr>
              <a:t>IoT-Based Smart Women’s Safety Belt  |  Hardware Implementation</a:t>
            </a:r>
            <a:endParaRPr lang="en-US" sz="900" dirty="0"/>
          </a:p>
        </p:txBody>
      </p:sp>
      <p:sp>
        <p:nvSpPr>
          <p:cNvPr id="6" name="Text 4"/>
          <p:cNvSpPr txBox="1"/>
          <p:nvPr/>
        </p:nvSpPr>
        <p:spPr>
          <a:xfrm>
            <a:off x="8229600" y="4828032"/>
            <a:ext cx="457200" cy="228600"/>
          </a:xfrm>
          <a:prstGeom prst="rect">
            <a:avLst/>
          </a:prstGeom>
          <a:noFill/>
          <a:ln/>
        </p:spPr>
        <p:txBody>
          <a:bodyPr wrap="square" lIns="0" tIns="0" rIns="0" bIns="0" rtlCol="0" anchor="t"/>
          <a:lstStyle/>
          <a:p>
            <a:pPr algn="r" indent="0" marL="0">
              <a:buNone/>
            </a:pPr>
            <a:r>
              <a:rPr lang="en-US" sz="900" dirty="0">
                <a:solidFill>
                  <a:srgbClr val="64748B"/>
                </a:solidFill>
                <a:latin typeface="Times New Roman" pitchFamily="34" charset="0"/>
                <a:ea typeface="Times New Roman" pitchFamily="34" charset="-122"/>
                <a:cs typeface="Times New Roman" pitchFamily="34" charset="-120"/>
              </a:rPr>
              <a:t>6</a:t>
            </a:r>
            <a:endParaRPr lang="en-US" sz="900" dirty="0"/>
          </a:p>
        </p:txBody>
      </p:sp>
      <p:sp>
        <p:nvSpPr>
          <p:cNvPr id="7" name="Shape 5"/>
          <p:cNvSpPr/>
          <p:nvPr/>
        </p:nvSpPr>
        <p:spPr>
          <a:xfrm>
            <a:off x="457200" y="1234440"/>
            <a:ext cx="2103120" cy="1737360"/>
          </a:xfrm>
          <a:prstGeom prst="roundRect">
            <a:avLst>
              <a:gd name="adj" fmla="val 4211"/>
            </a:avLst>
          </a:prstGeom>
          <a:solidFill>
            <a:srgbClr val="FFFFFF"/>
          </a:solidFill>
          <a:ln w="9525">
            <a:solidFill>
              <a:srgbClr val="D5DEE8"/>
            </a:solidFill>
            <a:prstDash val="solid"/>
          </a:ln>
        </p:spPr>
      </p:sp>
      <p:sp>
        <p:nvSpPr>
          <p:cNvPr id="8" name="Text 6"/>
          <p:cNvSpPr txBox="1"/>
          <p:nvPr/>
        </p:nvSpPr>
        <p:spPr>
          <a:xfrm>
            <a:off x="457200" y="1298448"/>
            <a:ext cx="2103120" cy="274320"/>
          </a:xfrm>
          <a:prstGeom prst="rect">
            <a:avLst/>
          </a:prstGeom>
          <a:noFill/>
          <a:ln/>
        </p:spPr>
        <p:txBody>
          <a:bodyPr wrap="square" lIns="0" tIns="0" rIns="0" bIns="0" rtlCol="0" anchor="t"/>
          <a:lstStyle/>
          <a:p>
            <a:pPr algn="ctr" indent="0" marL="0">
              <a:buNone/>
            </a:pPr>
            <a:r>
              <a:rPr lang="en-US" sz="1400" b="1" dirty="0">
                <a:solidFill>
                  <a:srgbClr val="0B2545"/>
                </a:solidFill>
                <a:latin typeface="Times New Roman" pitchFamily="34" charset="0"/>
                <a:ea typeface="Times New Roman" pitchFamily="34" charset="-122"/>
                <a:cs typeface="Times New Roman" pitchFamily="34" charset="-120"/>
              </a:rPr>
              <a:t>Not pressed</a:t>
            </a:r>
            <a:endParaRPr lang="en-US" sz="1400" dirty="0"/>
          </a:p>
        </p:txBody>
      </p:sp>
      <p:sp>
        <p:nvSpPr>
          <p:cNvPr id="9" name="Shape 7"/>
          <p:cNvSpPr/>
          <p:nvPr/>
        </p:nvSpPr>
        <p:spPr>
          <a:xfrm>
            <a:off x="868680" y="1920240"/>
            <a:ext cx="128016" cy="128016"/>
          </a:xfrm>
          <a:prstGeom prst="ellipse">
            <a:avLst/>
          </a:prstGeom>
          <a:solidFill>
            <a:srgbClr val="0B2545"/>
          </a:solidFill>
          <a:ln w="12700">
            <a:solidFill>
              <a:srgbClr val="0B2545"/>
            </a:solidFill>
            <a:prstDash val="solid"/>
          </a:ln>
        </p:spPr>
      </p:sp>
      <p:sp>
        <p:nvSpPr>
          <p:cNvPr id="10" name="Shape 8"/>
          <p:cNvSpPr/>
          <p:nvPr/>
        </p:nvSpPr>
        <p:spPr>
          <a:xfrm>
            <a:off x="2020824" y="1920240"/>
            <a:ext cx="128016" cy="128016"/>
          </a:xfrm>
          <a:prstGeom prst="ellipse">
            <a:avLst/>
          </a:prstGeom>
          <a:solidFill>
            <a:srgbClr val="0B2545"/>
          </a:solidFill>
          <a:ln w="12700">
            <a:solidFill>
              <a:srgbClr val="0B2545"/>
            </a:solidFill>
            <a:prstDash val="solid"/>
          </a:ln>
        </p:spPr>
      </p:sp>
      <p:sp>
        <p:nvSpPr>
          <p:cNvPr id="11" name="Shape 9"/>
          <p:cNvSpPr/>
          <p:nvPr/>
        </p:nvSpPr>
        <p:spPr>
          <a:xfrm flipV="1">
            <a:off x="996696" y="1645920"/>
            <a:ext cx="923544" cy="338328"/>
          </a:xfrm>
          <a:prstGeom prst="line">
            <a:avLst/>
          </a:prstGeom>
          <a:noFill/>
          <a:ln w="31750">
            <a:solidFill>
              <a:srgbClr val="64748B"/>
            </a:solidFill>
            <a:prstDash val="solid"/>
          </a:ln>
        </p:spPr>
      </p:sp>
      <p:sp>
        <p:nvSpPr>
          <p:cNvPr id="12" name="Text 10"/>
          <p:cNvSpPr txBox="1"/>
          <p:nvPr/>
        </p:nvSpPr>
        <p:spPr>
          <a:xfrm>
            <a:off x="457200" y="2240280"/>
            <a:ext cx="2103120" cy="228600"/>
          </a:xfrm>
          <a:prstGeom prst="rect">
            <a:avLst/>
          </a:prstGeom>
          <a:noFill/>
          <a:ln/>
        </p:spPr>
        <p:txBody>
          <a:bodyPr wrap="square" lIns="0" tIns="0" rIns="0" bIns="0" rtlCol="0" anchor="t"/>
          <a:lstStyle/>
          <a:p>
            <a:pPr algn="ctr" indent="0" marL="0">
              <a:buNone/>
            </a:pPr>
            <a:r>
              <a:rPr lang="en-US" sz="1100" dirty="0">
                <a:solidFill>
                  <a:srgbClr val="64748B"/>
                </a:solidFill>
                <a:latin typeface="Times New Roman" pitchFamily="34" charset="0"/>
                <a:ea typeface="Times New Roman" pitchFamily="34" charset="-122"/>
                <a:cs typeface="Times New Roman" pitchFamily="34" charset="-120"/>
              </a:rPr>
              <a:t>Circuit open</a:t>
            </a:r>
            <a:endParaRPr lang="en-US" sz="1100" dirty="0"/>
          </a:p>
        </p:txBody>
      </p:sp>
      <p:sp>
        <p:nvSpPr>
          <p:cNvPr id="13" name="Text 11"/>
          <p:cNvSpPr txBox="1"/>
          <p:nvPr/>
        </p:nvSpPr>
        <p:spPr>
          <a:xfrm>
            <a:off x="457200" y="2560320"/>
            <a:ext cx="2103120" cy="274320"/>
          </a:xfrm>
          <a:prstGeom prst="rect">
            <a:avLst/>
          </a:prstGeom>
          <a:noFill/>
          <a:ln/>
        </p:spPr>
        <p:txBody>
          <a:bodyPr wrap="square" lIns="0" tIns="0" rIns="0" bIns="0" rtlCol="0" anchor="t"/>
          <a:lstStyle/>
          <a:p>
            <a:pPr algn="ctr" indent="0" marL="0">
              <a:buNone/>
            </a:pPr>
            <a:r>
              <a:rPr lang="en-US" sz="1400" b="1" dirty="0">
                <a:solidFill>
                  <a:srgbClr val="0B2545"/>
                </a:solidFill>
                <a:latin typeface="Times New Roman" pitchFamily="34" charset="0"/>
                <a:ea typeface="Times New Roman" pitchFamily="34" charset="-122"/>
                <a:cs typeface="Times New Roman" pitchFamily="34" charset="-120"/>
              </a:rPr>
              <a:t>GPIO reads HIGH (1)</a:t>
            </a:r>
            <a:endParaRPr lang="en-US" sz="1400" dirty="0"/>
          </a:p>
        </p:txBody>
      </p:sp>
      <p:sp>
        <p:nvSpPr>
          <p:cNvPr id="14" name="Shape 12"/>
          <p:cNvSpPr/>
          <p:nvPr/>
        </p:nvSpPr>
        <p:spPr>
          <a:xfrm>
            <a:off x="2743200" y="1234440"/>
            <a:ext cx="2103120" cy="1737360"/>
          </a:xfrm>
          <a:prstGeom prst="roundRect">
            <a:avLst>
              <a:gd name="adj" fmla="val 4211"/>
            </a:avLst>
          </a:prstGeom>
          <a:solidFill>
            <a:srgbClr val="FFFFFF"/>
          </a:solidFill>
          <a:ln w="25400">
            <a:solidFill>
              <a:srgbClr val="D64550"/>
            </a:solidFill>
            <a:prstDash val="solid"/>
          </a:ln>
        </p:spPr>
      </p:sp>
      <p:sp>
        <p:nvSpPr>
          <p:cNvPr id="15" name="Text 13"/>
          <p:cNvSpPr txBox="1"/>
          <p:nvPr/>
        </p:nvSpPr>
        <p:spPr>
          <a:xfrm>
            <a:off x="2743200" y="1298448"/>
            <a:ext cx="2103120" cy="274320"/>
          </a:xfrm>
          <a:prstGeom prst="rect">
            <a:avLst/>
          </a:prstGeom>
          <a:noFill/>
          <a:ln/>
        </p:spPr>
        <p:txBody>
          <a:bodyPr wrap="square" lIns="0" tIns="0" rIns="0" bIns="0" rtlCol="0" anchor="t"/>
          <a:lstStyle/>
          <a:p>
            <a:pPr algn="ctr" indent="0" marL="0">
              <a:buNone/>
            </a:pPr>
            <a:r>
              <a:rPr lang="en-US" sz="1400" b="1" dirty="0">
                <a:solidFill>
                  <a:srgbClr val="D64550"/>
                </a:solidFill>
                <a:latin typeface="Times New Roman" pitchFamily="34" charset="0"/>
                <a:ea typeface="Times New Roman" pitchFamily="34" charset="-122"/>
                <a:cs typeface="Times New Roman" pitchFamily="34" charset="-120"/>
              </a:rPr>
              <a:t>Pressed</a:t>
            </a:r>
            <a:endParaRPr lang="en-US" sz="1400" dirty="0"/>
          </a:p>
        </p:txBody>
      </p:sp>
      <p:sp>
        <p:nvSpPr>
          <p:cNvPr id="16" name="Shape 14"/>
          <p:cNvSpPr/>
          <p:nvPr/>
        </p:nvSpPr>
        <p:spPr>
          <a:xfrm>
            <a:off x="3154680" y="1920240"/>
            <a:ext cx="128016" cy="128016"/>
          </a:xfrm>
          <a:prstGeom prst="ellipse">
            <a:avLst/>
          </a:prstGeom>
          <a:solidFill>
            <a:srgbClr val="0B2545"/>
          </a:solidFill>
          <a:ln w="12700">
            <a:solidFill>
              <a:srgbClr val="0B2545"/>
            </a:solidFill>
            <a:prstDash val="solid"/>
          </a:ln>
        </p:spPr>
      </p:sp>
      <p:sp>
        <p:nvSpPr>
          <p:cNvPr id="17" name="Shape 15"/>
          <p:cNvSpPr/>
          <p:nvPr/>
        </p:nvSpPr>
        <p:spPr>
          <a:xfrm>
            <a:off x="4306824" y="1920240"/>
            <a:ext cx="128016" cy="128016"/>
          </a:xfrm>
          <a:prstGeom prst="ellipse">
            <a:avLst/>
          </a:prstGeom>
          <a:solidFill>
            <a:srgbClr val="0B2545"/>
          </a:solidFill>
          <a:ln w="12700">
            <a:solidFill>
              <a:srgbClr val="0B2545"/>
            </a:solidFill>
            <a:prstDash val="solid"/>
          </a:ln>
        </p:spPr>
      </p:sp>
      <p:sp>
        <p:nvSpPr>
          <p:cNvPr id="18" name="Shape 16"/>
          <p:cNvSpPr/>
          <p:nvPr/>
        </p:nvSpPr>
        <p:spPr>
          <a:xfrm>
            <a:off x="3282696" y="1984248"/>
            <a:ext cx="1024128" cy="0"/>
          </a:xfrm>
          <a:prstGeom prst="line">
            <a:avLst/>
          </a:prstGeom>
          <a:noFill/>
          <a:ln w="31750">
            <a:solidFill>
              <a:srgbClr val="D64550"/>
            </a:solidFill>
            <a:prstDash val="solid"/>
          </a:ln>
        </p:spPr>
      </p:sp>
      <p:sp>
        <p:nvSpPr>
          <p:cNvPr id="19" name="Text 17"/>
          <p:cNvSpPr txBox="1"/>
          <p:nvPr/>
        </p:nvSpPr>
        <p:spPr>
          <a:xfrm>
            <a:off x="2743200" y="2240280"/>
            <a:ext cx="2103120" cy="228600"/>
          </a:xfrm>
          <a:prstGeom prst="rect">
            <a:avLst/>
          </a:prstGeom>
          <a:noFill/>
          <a:ln/>
        </p:spPr>
        <p:txBody>
          <a:bodyPr wrap="square" lIns="0" tIns="0" rIns="0" bIns="0" rtlCol="0" anchor="t"/>
          <a:lstStyle/>
          <a:p>
            <a:pPr algn="ctr" indent="0" marL="0">
              <a:buNone/>
            </a:pPr>
            <a:r>
              <a:rPr lang="en-US" sz="1100" dirty="0">
                <a:solidFill>
                  <a:srgbClr val="64748B"/>
                </a:solidFill>
                <a:latin typeface="Times New Roman" pitchFamily="34" charset="0"/>
                <a:ea typeface="Times New Roman" pitchFamily="34" charset="-122"/>
                <a:cs typeface="Times New Roman" pitchFamily="34" charset="-120"/>
              </a:rPr>
              <a:t>GPIO connected to GND</a:t>
            </a:r>
            <a:endParaRPr lang="en-US" sz="1100" dirty="0"/>
          </a:p>
        </p:txBody>
      </p:sp>
      <p:sp>
        <p:nvSpPr>
          <p:cNvPr id="20" name="Text 18"/>
          <p:cNvSpPr txBox="1"/>
          <p:nvPr/>
        </p:nvSpPr>
        <p:spPr>
          <a:xfrm>
            <a:off x="2743200" y="2560320"/>
            <a:ext cx="2103120" cy="274320"/>
          </a:xfrm>
          <a:prstGeom prst="rect">
            <a:avLst/>
          </a:prstGeom>
          <a:noFill/>
          <a:ln/>
        </p:spPr>
        <p:txBody>
          <a:bodyPr wrap="square" lIns="0" tIns="0" rIns="0" bIns="0" rtlCol="0" anchor="t"/>
          <a:lstStyle/>
          <a:p>
            <a:pPr algn="ctr" indent="0" marL="0">
              <a:buNone/>
            </a:pPr>
            <a:r>
              <a:rPr lang="en-US" sz="1400" b="1" dirty="0">
                <a:solidFill>
                  <a:srgbClr val="0B2545"/>
                </a:solidFill>
                <a:latin typeface="Times New Roman" pitchFamily="34" charset="0"/>
                <a:ea typeface="Times New Roman" pitchFamily="34" charset="-122"/>
                <a:cs typeface="Times New Roman" pitchFamily="34" charset="-120"/>
              </a:rPr>
              <a:t>GPIO reads LOW (0)</a:t>
            </a:r>
            <a:endParaRPr lang="en-US" sz="1400" dirty="0"/>
          </a:p>
        </p:txBody>
      </p:sp>
      <p:sp>
        <p:nvSpPr>
          <p:cNvPr id="21" name="Shape 19"/>
          <p:cNvSpPr/>
          <p:nvPr/>
        </p:nvSpPr>
        <p:spPr>
          <a:xfrm>
            <a:off x="457200" y="3154680"/>
            <a:ext cx="4389120" cy="731520"/>
          </a:xfrm>
          <a:prstGeom prst="roundRect">
            <a:avLst>
              <a:gd name="adj" fmla="val 10000"/>
            </a:avLst>
          </a:prstGeom>
          <a:solidFill>
            <a:srgbClr val="0B2545"/>
          </a:solidFill>
          <a:ln w="9525">
            <a:solidFill>
              <a:srgbClr val="0B2545"/>
            </a:solidFill>
            <a:prstDash val="solid"/>
          </a:ln>
        </p:spPr>
      </p:sp>
      <p:sp>
        <p:nvSpPr>
          <p:cNvPr id="22" name="Text 20"/>
          <p:cNvSpPr txBox="1"/>
          <p:nvPr/>
        </p:nvSpPr>
        <p:spPr>
          <a:xfrm>
            <a:off x="640080" y="3200400"/>
            <a:ext cx="4023360" cy="640080"/>
          </a:xfrm>
          <a:prstGeom prst="rect">
            <a:avLst/>
          </a:prstGeom>
          <a:noFill/>
          <a:ln/>
        </p:spPr>
        <p:txBody>
          <a:bodyPr wrap="square" lIns="0" tIns="0" rIns="0" bIns="0" rtlCol="0" anchor="ctr"/>
          <a:lstStyle/>
          <a:p>
            <a:pPr indent="0" marL="0">
              <a:buNone/>
            </a:pPr>
            <a:r>
              <a:rPr lang="en-US" sz="1150" dirty="0">
                <a:solidFill>
                  <a:srgbClr val="FFFFFF"/>
                </a:solidFill>
                <a:latin typeface="Consolas" pitchFamily="34" charset="0"/>
                <a:ea typeface="Consolas" pitchFamily="34" charset="-122"/>
                <a:cs typeface="Consolas" pitchFamily="34" charset="-120"/>
              </a:rPr>
              <a:t>if (button input == LOW)</a:t>
            </a:r>
            <a:endParaRPr lang="en-US" sz="1150" dirty="0"/>
          </a:p>
          <a:p>
            <a:pPr indent="0" marL="0">
              <a:buNone/>
            </a:pPr>
            <a:r>
              <a:rPr lang="en-US" sz="1150" dirty="0">
                <a:solidFill>
                  <a:srgbClr val="FFFFFF"/>
                </a:solidFill>
                <a:latin typeface="Consolas" pitchFamily="34" charset="0"/>
                <a:ea typeface="Consolas" pitchFamily="34" charset="-122"/>
                <a:cs typeface="Consolas" pitchFamily="34" charset="-120"/>
              </a:rPr>
              <a:t>    → SOS detected (programmed logic)</a:t>
            </a:r>
            <a:endParaRPr lang="en-US" sz="1150" dirty="0"/>
          </a:p>
        </p:txBody>
      </p:sp>
      <p:sp>
        <p:nvSpPr>
          <p:cNvPr id="23" name="Text 21"/>
          <p:cNvSpPr txBox="1"/>
          <p:nvPr/>
        </p:nvSpPr>
        <p:spPr>
          <a:xfrm>
            <a:off x="457200" y="4023360"/>
            <a:ext cx="4389120" cy="640080"/>
          </a:xfrm>
          <a:prstGeom prst="rect">
            <a:avLst/>
          </a:prstGeom>
          <a:noFill/>
          <a:ln/>
        </p:spPr>
        <p:txBody>
          <a:bodyPr wrap="square" lIns="0" tIns="0" rIns="0" bIns="0" rtlCol="0" anchor="t"/>
          <a:lstStyle/>
          <a:p>
            <a:pPr indent="0" marL="0">
              <a:buNone/>
            </a:pPr>
            <a:r>
              <a:rPr lang="en-US" sz="1400" dirty="0">
                <a:solidFill>
                  <a:srgbClr val="1E293B"/>
                </a:solidFill>
                <a:latin typeface="Times New Roman" pitchFamily="34" charset="0"/>
                <a:ea typeface="Times New Roman" pitchFamily="34" charset="-122"/>
                <a:cs typeface="Times New Roman" pitchFamily="34" charset="-120"/>
              </a:rPr>
              <a:t>The button only provides an input signal. The ESP32-C3 program decides what happens next; the button does not send an alert on its own.</a:t>
            </a:r>
            <a:endParaRPr lang="en-US" sz="1400" dirty="0"/>
          </a:p>
        </p:txBody>
      </p:sp>
      <p:sp>
        <p:nvSpPr>
          <p:cNvPr id="24" name="Shape 22"/>
          <p:cNvSpPr/>
          <p:nvPr/>
        </p:nvSpPr>
        <p:spPr>
          <a:xfrm>
            <a:off x="5120640" y="1234440"/>
            <a:ext cx="3566160" cy="3383280"/>
          </a:xfrm>
          <a:prstGeom prst="roundRect">
            <a:avLst>
              <a:gd name="adj" fmla="val 2162"/>
            </a:avLst>
          </a:prstGeom>
          <a:solidFill>
            <a:srgbClr val="FFFFFF"/>
          </a:solidFill>
          <a:ln w="9525">
            <a:solidFill>
              <a:srgbClr val="D5DEE8"/>
            </a:solidFill>
            <a:prstDash val="solid"/>
          </a:ln>
        </p:spPr>
      </p:sp>
      <p:sp>
        <p:nvSpPr>
          <p:cNvPr id="25" name="Text 23"/>
          <p:cNvSpPr txBox="1"/>
          <p:nvPr/>
        </p:nvSpPr>
        <p:spPr>
          <a:xfrm>
            <a:off x="5120640" y="1325880"/>
            <a:ext cx="3566160" cy="274320"/>
          </a:xfrm>
          <a:prstGeom prst="rect">
            <a:avLst/>
          </a:prstGeom>
          <a:noFill/>
          <a:ln/>
        </p:spPr>
        <p:txBody>
          <a:bodyPr wrap="square" lIns="0" tIns="0" rIns="0" bIns="0" rtlCol="0" anchor="t"/>
          <a:lstStyle/>
          <a:p>
            <a:pPr algn="ctr" indent="0" marL="0">
              <a:buNone/>
            </a:pPr>
            <a:r>
              <a:rPr lang="en-US" sz="1400" b="1" dirty="0">
                <a:solidFill>
                  <a:srgbClr val="0B2545"/>
                </a:solidFill>
                <a:latin typeface="Times New Roman" pitchFamily="34" charset="0"/>
                <a:ea typeface="Times New Roman" pitchFamily="34" charset="-122"/>
                <a:cs typeface="Times New Roman" pitchFamily="34" charset="-120"/>
              </a:rPr>
              <a:t>Hidden placement on the belt</a:t>
            </a:r>
            <a:endParaRPr lang="en-US" sz="1400" dirty="0"/>
          </a:p>
        </p:txBody>
      </p:sp>
      <p:pic>
        <p:nvPicPr>
          <p:cNvPr id="26" name="Image 0" descr="belt 3D illustration">    </p:cNvPr>
          <p:cNvPicPr>
            <a:picLocks noChangeAspect="1"/>
          </p:cNvPicPr>
          <p:nvPr/>
        </p:nvPicPr>
        <p:blipFill>
          <a:blip r:embed="rId1"/>
          <a:stretch>
            <a:fillRect/>
          </a:stretch>
        </p:blipFill>
        <p:spPr>
          <a:xfrm>
            <a:off x="5303520" y="1970515"/>
            <a:ext cx="3200400" cy="2094009"/>
          </a:xfrm>
          <a:prstGeom prst="rect">
            <a:avLst/>
          </a:prstGeom>
        </p:spPr>
      </p:pic>
      <p:sp>
        <p:nvSpPr>
          <p:cNvPr id="27" name="Shape 24"/>
          <p:cNvSpPr/>
          <p:nvPr/>
        </p:nvSpPr>
        <p:spPr>
          <a:xfrm flipV="1">
            <a:off x="7645197" y="2528598"/>
            <a:ext cx="0" cy="594360"/>
          </a:xfrm>
          <a:prstGeom prst="line">
            <a:avLst/>
          </a:prstGeom>
          <a:noFill/>
          <a:ln w="15875">
            <a:solidFill>
              <a:srgbClr val="D64550"/>
            </a:solidFill>
            <a:prstDash val="solid"/>
          </a:ln>
        </p:spPr>
      </p:sp>
      <p:sp>
        <p:nvSpPr>
          <p:cNvPr id="28" name="Text 25"/>
          <p:cNvSpPr txBox="1"/>
          <p:nvPr/>
        </p:nvSpPr>
        <p:spPr>
          <a:xfrm>
            <a:off x="6730797" y="2254278"/>
            <a:ext cx="1828800" cy="274320"/>
          </a:xfrm>
          <a:prstGeom prst="rect">
            <a:avLst/>
          </a:prstGeom>
          <a:noFill/>
          <a:ln/>
        </p:spPr>
        <p:txBody>
          <a:bodyPr wrap="square" lIns="0" tIns="0" rIns="0" bIns="0" rtlCol="0" anchor="t"/>
          <a:lstStyle/>
          <a:p>
            <a:pPr algn="ctr" indent="0" marL="0">
              <a:buNone/>
            </a:pPr>
            <a:r>
              <a:rPr lang="en-US" sz="1100" b="1" dirty="0">
                <a:solidFill>
                  <a:srgbClr val="D64550"/>
                </a:solidFill>
                <a:latin typeface="Times New Roman" pitchFamily="34" charset="0"/>
                <a:ea typeface="Times New Roman" pitchFamily="34" charset="-122"/>
                <a:cs typeface="Times New Roman" pitchFamily="34" charset="-120"/>
              </a:rPr>
              <a:t>Concealed SOS button</a:t>
            </a:r>
            <a:endParaRPr lang="en-US" sz="1100" dirty="0"/>
          </a:p>
        </p:txBody>
      </p:sp>
      <p:sp>
        <p:nvSpPr>
          <p:cNvPr id="29" name="Text 26"/>
          <p:cNvSpPr txBox="1"/>
          <p:nvPr/>
        </p:nvSpPr>
        <p:spPr>
          <a:xfrm>
            <a:off x="5303520" y="3977640"/>
            <a:ext cx="3200400" cy="548640"/>
          </a:xfrm>
          <a:prstGeom prst="rect">
            <a:avLst/>
          </a:prstGeom>
          <a:noFill/>
          <a:ln/>
        </p:spPr>
        <p:txBody>
          <a:bodyPr wrap="square" lIns="0" tIns="0" rIns="0" bIns="0" rtlCol="0" anchor="t"/>
          <a:lstStyle/>
          <a:p>
            <a:pPr algn="ctr" indent="0" marL="0">
              <a:buNone/>
            </a:pPr>
            <a:r>
              <a:rPr lang="en-US" sz="1100" dirty="0">
                <a:solidFill>
                  <a:srgbClr val="64748B"/>
                </a:solidFill>
                <a:latin typeface="Times New Roman" pitchFamily="34" charset="0"/>
                <a:ea typeface="Times New Roman" pitchFamily="34" charset="-122"/>
                <a:cs typeface="Times New Roman" pitchFamily="34" charset="-120"/>
              </a:rPr>
              <a:t>3D illustration – button concealed so it can be pressed discreetly.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3A89E"/>
          </a:solidFill>
          <a:ln w="9525">
            <a:solidFill>
              <a:srgbClr val="13A89E"/>
            </a:solidFill>
            <a:prstDash val="solid"/>
          </a:ln>
        </p:spPr>
      </p:sp>
      <p:sp>
        <p:nvSpPr>
          <p:cNvPr id="3" name="Text 1"/>
          <p:cNvSpPr txBox="1"/>
          <p:nvPr/>
        </p:nvSpPr>
        <p:spPr>
          <a:xfrm>
            <a:off x="457200" y="228600"/>
            <a:ext cx="8229600" cy="457200"/>
          </a:xfrm>
          <a:prstGeom prst="rect">
            <a:avLst/>
          </a:prstGeom>
          <a:noFill/>
          <a:ln/>
        </p:spPr>
        <p:txBody>
          <a:bodyPr wrap="square" lIns="0" tIns="0" rIns="0" bIns="0" rtlCol="0" anchor="ctr"/>
          <a:lstStyle/>
          <a:p>
            <a:pPr indent="0" marL="0">
              <a:buNone/>
            </a:pPr>
            <a:r>
              <a:rPr lang="en-US" sz="2400" b="1" dirty="0">
                <a:solidFill>
                  <a:srgbClr val="0B2545"/>
                </a:solidFill>
                <a:latin typeface="Times New Roman" pitchFamily="34" charset="0"/>
                <a:ea typeface="Times New Roman" pitchFamily="34" charset="-122"/>
                <a:cs typeface="Times New Roman" pitchFamily="34" charset="-120"/>
              </a:rPr>
              <a:t>Hardware Connections</a:t>
            </a:r>
            <a:endParaRPr lang="en-US" sz="2400" dirty="0"/>
          </a:p>
        </p:txBody>
      </p:sp>
      <p:sp>
        <p:nvSpPr>
          <p:cNvPr id="4" name="Text 2"/>
          <p:cNvSpPr txBox="1"/>
          <p:nvPr/>
        </p:nvSpPr>
        <p:spPr>
          <a:xfrm>
            <a:off x="457200" y="685800"/>
            <a:ext cx="8229600" cy="274320"/>
          </a:xfrm>
          <a:prstGeom prst="rect">
            <a:avLst/>
          </a:prstGeom>
          <a:noFill/>
          <a:ln/>
        </p:spPr>
        <p:txBody>
          <a:bodyPr wrap="square" lIns="0" tIns="0" rIns="0" bIns="0" rtlCol="0" anchor="t"/>
          <a:lstStyle/>
          <a:p>
            <a:pPr indent="0" marL="0">
              <a:buNone/>
            </a:pPr>
            <a:r>
              <a:rPr lang="en-US" sz="1400" dirty="0">
                <a:solidFill>
                  <a:srgbClr val="64748B"/>
                </a:solidFill>
                <a:latin typeface="Times New Roman" pitchFamily="34" charset="0"/>
                <a:ea typeface="Times New Roman" pitchFamily="34" charset="-122"/>
                <a:cs typeface="Times New Roman" pitchFamily="34" charset="-120"/>
              </a:rPr>
              <a:t>Wiring diagram – pin numbers, GPS model and MPU6050 I2C pins are placeholders until confirmed</a:t>
            </a:r>
            <a:endParaRPr lang="en-US" sz="1400" dirty="0"/>
          </a:p>
        </p:txBody>
      </p:sp>
      <p:sp>
        <p:nvSpPr>
          <p:cNvPr id="5" name="Text 3"/>
          <p:cNvSpPr txBox="1"/>
          <p:nvPr/>
        </p:nvSpPr>
        <p:spPr>
          <a:xfrm>
            <a:off x="457200" y="4828032"/>
            <a:ext cx="6400800" cy="228600"/>
          </a:xfrm>
          <a:prstGeom prst="rect">
            <a:avLst/>
          </a:prstGeom>
          <a:noFill/>
          <a:ln/>
        </p:spPr>
        <p:txBody>
          <a:bodyPr wrap="square" lIns="0" tIns="0" rIns="0" bIns="0" rtlCol="0" anchor="t"/>
          <a:lstStyle/>
          <a:p>
            <a:pPr indent="0" marL="0">
              <a:buNone/>
            </a:pPr>
            <a:r>
              <a:rPr lang="en-US" sz="900" dirty="0">
                <a:solidFill>
                  <a:srgbClr val="64748B"/>
                </a:solidFill>
                <a:latin typeface="Times New Roman" pitchFamily="34" charset="0"/>
                <a:ea typeface="Times New Roman" pitchFamily="34" charset="-122"/>
                <a:cs typeface="Times New Roman" pitchFamily="34" charset="-120"/>
              </a:rPr>
              <a:t>IoT-Based Smart Women’s Safety Belt  |  Hardware Implementation</a:t>
            </a:r>
            <a:endParaRPr lang="en-US" sz="900" dirty="0"/>
          </a:p>
        </p:txBody>
      </p:sp>
      <p:sp>
        <p:nvSpPr>
          <p:cNvPr id="6" name="Text 4"/>
          <p:cNvSpPr txBox="1"/>
          <p:nvPr/>
        </p:nvSpPr>
        <p:spPr>
          <a:xfrm>
            <a:off x="8229600" y="4828032"/>
            <a:ext cx="457200" cy="228600"/>
          </a:xfrm>
          <a:prstGeom prst="rect">
            <a:avLst/>
          </a:prstGeom>
          <a:noFill/>
          <a:ln/>
        </p:spPr>
        <p:txBody>
          <a:bodyPr wrap="square" lIns="0" tIns="0" rIns="0" bIns="0" rtlCol="0" anchor="t"/>
          <a:lstStyle/>
          <a:p>
            <a:pPr algn="r" indent="0" marL="0">
              <a:buNone/>
            </a:pPr>
            <a:r>
              <a:rPr lang="en-US" sz="900" dirty="0">
                <a:solidFill>
                  <a:srgbClr val="64748B"/>
                </a:solidFill>
                <a:latin typeface="Times New Roman" pitchFamily="34" charset="0"/>
                <a:ea typeface="Times New Roman" pitchFamily="34" charset="-122"/>
                <a:cs typeface="Times New Roman" pitchFamily="34" charset="-120"/>
              </a:rPr>
              <a:t>7</a:t>
            </a:r>
            <a:endParaRPr lang="en-US" sz="900" dirty="0"/>
          </a:p>
        </p:txBody>
      </p:sp>
      <p:sp>
        <p:nvSpPr>
          <p:cNvPr id="7" name="Shape 5"/>
          <p:cNvSpPr/>
          <p:nvPr/>
        </p:nvSpPr>
        <p:spPr>
          <a:xfrm>
            <a:off x="5989320" y="1298448"/>
            <a:ext cx="320040" cy="0"/>
          </a:xfrm>
          <a:prstGeom prst="line">
            <a:avLst/>
          </a:prstGeom>
          <a:noFill/>
          <a:ln w="31750">
            <a:solidFill>
              <a:srgbClr val="D64550"/>
            </a:solidFill>
            <a:prstDash val="solid"/>
          </a:ln>
        </p:spPr>
      </p:sp>
      <p:sp>
        <p:nvSpPr>
          <p:cNvPr id="8" name="Text 6"/>
          <p:cNvSpPr txBox="1"/>
          <p:nvPr/>
        </p:nvSpPr>
        <p:spPr>
          <a:xfrm>
            <a:off x="6382512" y="1216152"/>
            <a:ext cx="731520" cy="182880"/>
          </a:xfrm>
          <a:prstGeom prst="rect">
            <a:avLst/>
          </a:prstGeom>
          <a:noFill/>
          <a:ln/>
        </p:spPr>
        <p:txBody>
          <a:bodyPr wrap="square" lIns="0" tIns="0" rIns="0" bIns="0" rtlCol="0" anchor="t"/>
          <a:lstStyle/>
          <a:p>
            <a:pPr indent="0" marL="0">
              <a:buNone/>
            </a:pPr>
            <a:r>
              <a:rPr lang="en-US" sz="950" dirty="0">
                <a:solidFill>
                  <a:srgbClr val="64748B"/>
                </a:solidFill>
                <a:latin typeface="Times New Roman" pitchFamily="34" charset="0"/>
                <a:ea typeface="Times New Roman" pitchFamily="34" charset="-122"/>
                <a:cs typeface="Times New Roman" pitchFamily="34" charset="-120"/>
              </a:rPr>
              <a:t>Power</a:t>
            </a:r>
            <a:endParaRPr lang="en-US" sz="950" dirty="0"/>
          </a:p>
        </p:txBody>
      </p:sp>
      <p:sp>
        <p:nvSpPr>
          <p:cNvPr id="9" name="Shape 7"/>
          <p:cNvSpPr/>
          <p:nvPr/>
        </p:nvSpPr>
        <p:spPr>
          <a:xfrm>
            <a:off x="5989320" y="1499616"/>
            <a:ext cx="320040" cy="0"/>
          </a:xfrm>
          <a:prstGeom prst="line">
            <a:avLst/>
          </a:prstGeom>
          <a:noFill/>
          <a:ln w="31750">
            <a:solidFill>
              <a:srgbClr val="111827"/>
            </a:solidFill>
            <a:prstDash val="solid"/>
          </a:ln>
        </p:spPr>
      </p:sp>
      <p:sp>
        <p:nvSpPr>
          <p:cNvPr id="10" name="Text 8"/>
          <p:cNvSpPr txBox="1"/>
          <p:nvPr/>
        </p:nvSpPr>
        <p:spPr>
          <a:xfrm>
            <a:off x="6382512" y="1417320"/>
            <a:ext cx="731520" cy="182880"/>
          </a:xfrm>
          <a:prstGeom prst="rect">
            <a:avLst/>
          </a:prstGeom>
          <a:noFill/>
          <a:ln/>
        </p:spPr>
        <p:txBody>
          <a:bodyPr wrap="square" lIns="0" tIns="0" rIns="0" bIns="0" rtlCol="0" anchor="t"/>
          <a:lstStyle/>
          <a:p>
            <a:pPr indent="0" marL="0">
              <a:buNone/>
            </a:pPr>
            <a:r>
              <a:rPr lang="en-US" sz="950" dirty="0">
                <a:solidFill>
                  <a:srgbClr val="64748B"/>
                </a:solidFill>
                <a:latin typeface="Times New Roman" pitchFamily="34" charset="0"/>
                <a:ea typeface="Times New Roman" pitchFamily="34" charset="-122"/>
                <a:cs typeface="Times New Roman" pitchFamily="34" charset="-120"/>
              </a:rPr>
              <a:t>Ground</a:t>
            </a:r>
            <a:endParaRPr lang="en-US" sz="950" dirty="0"/>
          </a:p>
        </p:txBody>
      </p:sp>
      <p:sp>
        <p:nvSpPr>
          <p:cNvPr id="11" name="Shape 9"/>
          <p:cNvSpPr/>
          <p:nvPr/>
        </p:nvSpPr>
        <p:spPr>
          <a:xfrm>
            <a:off x="5989320" y="1700784"/>
            <a:ext cx="320040" cy="0"/>
          </a:xfrm>
          <a:prstGeom prst="line">
            <a:avLst/>
          </a:prstGeom>
          <a:noFill/>
          <a:ln w="31750">
            <a:solidFill>
              <a:srgbClr val="13A89E"/>
            </a:solidFill>
            <a:prstDash val="solid"/>
          </a:ln>
        </p:spPr>
      </p:sp>
      <p:sp>
        <p:nvSpPr>
          <p:cNvPr id="12" name="Text 10"/>
          <p:cNvSpPr txBox="1"/>
          <p:nvPr/>
        </p:nvSpPr>
        <p:spPr>
          <a:xfrm>
            <a:off x="6382512" y="1618488"/>
            <a:ext cx="731520" cy="182880"/>
          </a:xfrm>
          <a:prstGeom prst="rect">
            <a:avLst/>
          </a:prstGeom>
          <a:noFill/>
          <a:ln/>
        </p:spPr>
        <p:txBody>
          <a:bodyPr wrap="square" lIns="0" tIns="0" rIns="0" bIns="0" rtlCol="0" anchor="t"/>
          <a:lstStyle/>
          <a:p>
            <a:pPr indent="0" marL="0">
              <a:buNone/>
            </a:pPr>
            <a:r>
              <a:rPr lang="en-US" sz="950" dirty="0">
                <a:solidFill>
                  <a:srgbClr val="64748B"/>
                </a:solidFill>
                <a:latin typeface="Times New Roman" pitchFamily="34" charset="0"/>
                <a:ea typeface="Times New Roman" pitchFamily="34" charset="-122"/>
                <a:cs typeface="Times New Roman" pitchFamily="34" charset="-120"/>
              </a:rPr>
              <a:t>Signal</a:t>
            </a:r>
            <a:endParaRPr lang="en-US" sz="950" dirty="0"/>
          </a:p>
        </p:txBody>
      </p:sp>
      <p:sp>
        <p:nvSpPr>
          <p:cNvPr id="13" name="Shape 11"/>
          <p:cNvSpPr/>
          <p:nvPr/>
        </p:nvSpPr>
        <p:spPr>
          <a:xfrm>
            <a:off x="5989320" y="1901952"/>
            <a:ext cx="320040" cy="0"/>
          </a:xfrm>
          <a:prstGeom prst="line">
            <a:avLst/>
          </a:prstGeom>
          <a:noFill/>
          <a:ln w="31750">
            <a:solidFill>
              <a:srgbClr val="2B4C7E"/>
            </a:solidFill>
            <a:prstDash val="solid"/>
          </a:ln>
        </p:spPr>
      </p:sp>
      <p:sp>
        <p:nvSpPr>
          <p:cNvPr id="14" name="Text 12"/>
          <p:cNvSpPr txBox="1"/>
          <p:nvPr/>
        </p:nvSpPr>
        <p:spPr>
          <a:xfrm>
            <a:off x="6382512" y="1819656"/>
            <a:ext cx="731520" cy="182880"/>
          </a:xfrm>
          <a:prstGeom prst="rect">
            <a:avLst/>
          </a:prstGeom>
          <a:noFill/>
          <a:ln/>
        </p:spPr>
        <p:txBody>
          <a:bodyPr wrap="square" lIns="0" tIns="0" rIns="0" bIns="0" rtlCol="0" anchor="t"/>
          <a:lstStyle/>
          <a:p>
            <a:pPr indent="0" marL="0">
              <a:buNone/>
            </a:pPr>
            <a:r>
              <a:rPr lang="en-US" sz="950" dirty="0">
                <a:solidFill>
                  <a:srgbClr val="64748B"/>
                </a:solidFill>
                <a:latin typeface="Times New Roman" pitchFamily="34" charset="0"/>
                <a:ea typeface="Times New Roman" pitchFamily="34" charset="-122"/>
                <a:cs typeface="Times New Roman" pitchFamily="34" charset="-120"/>
              </a:rPr>
              <a:t>USB</a:t>
            </a:r>
            <a:endParaRPr lang="en-US" sz="950" dirty="0"/>
          </a:p>
        </p:txBody>
      </p:sp>
      <p:sp>
        <p:nvSpPr>
          <p:cNvPr id="15" name="Shape 13"/>
          <p:cNvSpPr/>
          <p:nvPr/>
        </p:nvSpPr>
        <p:spPr>
          <a:xfrm>
            <a:off x="3657600" y="1143000"/>
            <a:ext cx="2103120" cy="3246120"/>
          </a:xfrm>
          <a:prstGeom prst="roundRect">
            <a:avLst>
              <a:gd name="adj" fmla="val 3478"/>
            </a:avLst>
          </a:prstGeom>
          <a:solidFill>
            <a:srgbClr val="D9F0EE"/>
          </a:solidFill>
          <a:ln w="25400">
            <a:solidFill>
              <a:srgbClr val="0F766E"/>
            </a:solidFill>
            <a:prstDash val="solid"/>
          </a:ln>
        </p:spPr>
      </p:sp>
      <p:sp>
        <p:nvSpPr>
          <p:cNvPr id="16" name="Text 14"/>
          <p:cNvSpPr txBox="1"/>
          <p:nvPr/>
        </p:nvSpPr>
        <p:spPr>
          <a:xfrm>
            <a:off x="3657600" y="1188720"/>
            <a:ext cx="2103120" cy="411480"/>
          </a:xfrm>
          <a:prstGeom prst="rect">
            <a:avLst/>
          </a:prstGeom>
          <a:noFill/>
          <a:ln/>
        </p:spPr>
        <p:txBody>
          <a:bodyPr wrap="square" lIns="0" tIns="0" rIns="0" bIns="0" rtlCol="0" anchor="t"/>
          <a:lstStyle/>
          <a:p>
            <a:pPr algn="ctr" indent="0" marL="0">
              <a:buNone/>
            </a:pPr>
            <a:r>
              <a:rPr lang="en-US" sz="1200" b="1" dirty="0">
                <a:solidFill>
                  <a:srgbClr val="0B2545"/>
                </a:solidFill>
                <a:latin typeface="Times New Roman" pitchFamily="34" charset="0"/>
                <a:ea typeface="Times New Roman" pitchFamily="34" charset="-122"/>
                <a:cs typeface="Times New Roman" pitchFamily="34" charset="-120"/>
              </a:rPr>
              <a:t>ESP32-C3</a:t>
            </a:r>
            <a:endParaRPr lang="en-US" sz="1200" dirty="0"/>
          </a:p>
          <a:p>
            <a:pPr algn="ctr" indent="0" marL="0">
              <a:buNone/>
            </a:pPr>
            <a:r>
              <a:rPr lang="en-US" sz="1200" b="1" dirty="0">
                <a:solidFill>
                  <a:srgbClr val="0B2545"/>
                </a:solidFill>
                <a:latin typeface="Times New Roman" pitchFamily="34" charset="0"/>
                <a:ea typeface="Times New Roman" pitchFamily="34" charset="-122"/>
                <a:cs typeface="Times New Roman" pitchFamily="34" charset="-120"/>
              </a:rPr>
              <a:t>SuperMini</a:t>
            </a:r>
            <a:endParaRPr lang="en-US" sz="1200" dirty="0"/>
          </a:p>
        </p:txBody>
      </p:sp>
      <p:sp>
        <p:nvSpPr>
          <p:cNvPr id="17" name="Text 15"/>
          <p:cNvSpPr txBox="1"/>
          <p:nvPr/>
        </p:nvSpPr>
        <p:spPr>
          <a:xfrm>
            <a:off x="3767328" y="1645920"/>
            <a:ext cx="1828800" cy="182880"/>
          </a:xfrm>
          <a:prstGeom prst="rect">
            <a:avLst/>
          </a:prstGeom>
          <a:noFill/>
          <a:ln/>
        </p:spPr>
        <p:txBody>
          <a:bodyPr wrap="square" lIns="0" tIns="0" rIns="0" bIns="0" rtlCol="0" anchor="t"/>
          <a:lstStyle/>
          <a:p>
            <a:pPr indent="0" marL="0">
              <a:buNone/>
            </a:pPr>
            <a:r>
              <a:rPr lang="en-US" sz="1000" b="1" dirty="0">
                <a:solidFill>
                  <a:srgbClr val="0B2545"/>
                </a:solidFill>
                <a:latin typeface="Times New Roman" pitchFamily="34" charset="0"/>
                <a:ea typeface="Times New Roman" pitchFamily="34" charset="-122"/>
                <a:cs typeface="Times New Roman" pitchFamily="34" charset="-120"/>
              </a:rPr>
              <a:t>GPIO_BTN (pin TBC)</a:t>
            </a:r>
            <a:endParaRPr lang="en-US" sz="1000" dirty="0"/>
          </a:p>
        </p:txBody>
      </p:sp>
      <p:sp>
        <p:nvSpPr>
          <p:cNvPr id="18" name="Text 16"/>
          <p:cNvSpPr txBox="1"/>
          <p:nvPr/>
        </p:nvSpPr>
        <p:spPr>
          <a:xfrm>
            <a:off x="3767328" y="2011680"/>
            <a:ext cx="1828800" cy="182880"/>
          </a:xfrm>
          <a:prstGeom prst="rect">
            <a:avLst/>
          </a:prstGeom>
          <a:noFill/>
          <a:ln/>
        </p:spPr>
        <p:txBody>
          <a:bodyPr wrap="square" lIns="0" tIns="0" rIns="0" bIns="0" rtlCol="0" anchor="t"/>
          <a:lstStyle/>
          <a:p>
            <a:pPr indent="0" marL="0">
              <a:buNone/>
            </a:pPr>
            <a:r>
              <a:rPr lang="en-US" sz="1000" b="1" dirty="0">
                <a:solidFill>
                  <a:srgbClr val="0B2545"/>
                </a:solidFill>
                <a:latin typeface="Times New Roman" pitchFamily="34" charset="0"/>
                <a:ea typeface="Times New Roman" pitchFamily="34" charset="-122"/>
                <a:cs typeface="Times New Roman" pitchFamily="34" charset="-120"/>
              </a:rPr>
              <a:t>GND</a:t>
            </a:r>
            <a:endParaRPr lang="en-US" sz="1000" dirty="0"/>
          </a:p>
        </p:txBody>
      </p:sp>
      <p:sp>
        <p:nvSpPr>
          <p:cNvPr id="19" name="Text 17"/>
          <p:cNvSpPr txBox="1"/>
          <p:nvPr/>
        </p:nvSpPr>
        <p:spPr>
          <a:xfrm>
            <a:off x="3767328" y="2560320"/>
            <a:ext cx="1828800" cy="182880"/>
          </a:xfrm>
          <a:prstGeom prst="rect">
            <a:avLst/>
          </a:prstGeom>
          <a:noFill/>
          <a:ln/>
        </p:spPr>
        <p:txBody>
          <a:bodyPr wrap="square" lIns="0" tIns="0" rIns="0" bIns="0" rtlCol="0" anchor="t"/>
          <a:lstStyle/>
          <a:p>
            <a:pPr indent="0" marL="0">
              <a:buNone/>
            </a:pPr>
            <a:r>
              <a:rPr lang="en-US" sz="1000" b="1" dirty="0">
                <a:solidFill>
                  <a:srgbClr val="0B2545"/>
                </a:solidFill>
                <a:latin typeface="Times New Roman" pitchFamily="34" charset="0"/>
                <a:ea typeface="Times New Roman" pitchFamily="34" charset="-122"/>
                <a:cs typeface="Times New Roman" pitchFamily="34" charset="-120"/>
              </a:rPr>
              <a:t>3V3</a:t>
            </a:r>
            <a:endParaRPr lang="en-US" sz="1000" dirty="0"/>
          </a:p>
        </p:txBody>
      </p:sp>
      <p:sp>
        <p:nvSpPr>
          <p:cNvPr id="20" name="Text 18"/>
          <p:cNvSpPr txBox="1"/>
          <p:nvPr/>
        </p:nvSpPr>
        <p:spPr>
          <a:xfrm>
            <a:off x="3767328" y="2880360"/>
            <a:ext cx="1828800" cy="182880"/>
          </a:xfrm>
          <a:prstGeom prst="rect">
            <a:avLst/>
          </a:prstGeom>
          <a:noFill/>
          <a:ln/>
        </p:spPr>
        <p:txBody>
          <a:bodyPr wrap="square" lIns="0" tIns="0" rIns="0" bIns="0" rtlCol="0" anchor="t"/>
          <a:lstStyle/>
          <a:p>
            <a:pPr indent="0" marL="0">
              <a:buNone/>
            </a:pPr>
            <a:r>
              <a:rPr lang="en-US" sz="1000" b="1" dirty="0">
                <a:solidFill>
                  <a:srgbClr val="0B2545"/>
                </a:solidFill>
                <a:latin typeface="Times New Roman" pitchFamily="34" charset="0"/>
                <a:ea typeface="Times New Roman" pitchFamily="34" charset="-122"/>
                <a:cs typeface="Times New Roman" pitchFamily="34" charset="-120"/>
              </a:rPr>
              <a:t>GND</a:t>
            </a:r>
            <a:endParaRPr lang="en-US" sz="1000" dirty="0"/>
          </a:p>
        </p:txBody>
      </p:sp>
      <p:sp>
        <p:nvSpPr>
          <p:cNvPr id="21" name="Text 19"/>
          <p:cNvSpPr txBox="1"/>
          <p:nvPr/>
        </p:nvSpPr>
        <p:spPr>
          <a:xfrm>
            <a:off x="3767328" y="3200400"/>
            <a:ext cx="1828800" cy="182880"/>
          </a:xfrm>
          <a:prstGeom prst="rect">
            <a:avLst/>
          </a:prstGeom>
          <a:noFill/>
          <a:ln/>
        </p:spPr>
        <p:txBody>
          <a:bodyPr wrap="square" lIns="0" tIns="0" rIns="0" bIns="0" rtlCol="0" anchor="t"/>
          <a:lstStyle/>
          <a:p>
            <a:pPr indent="0" marL="0">
              <a:buNone/>
            </a:pPr>
            <a:r>
              <a:rPr lang="en-US" sz="1000" b="1" dirty="0">
                <a:solidFill>
                  <a:srgbClr val="0B2545"/>
                </a:solidFill>
                <a:latin typeface="Times New Roman" pitchFamily="34" charset="0"/>
                <a:ea typeface="Times New Roman" pitchFamily="34" charset="-122"/>
                <a:cs typeface="Times New Roman" pitchFamily="34" charset="-120"/>
              </a:rPr>
              <a:t>RX  (GPIO_RX TBC)</a:t>
            </a:r>
            <a:endParaRPr lang="en-US" sz="1000" dirty="0"/>
          </a:p>
        </p:txBody>
      </p:sp>
      <p:sp>
        <p:nvSpPr>
          <p:cNvPr id="22" name="Text 20"/>
          <p:cNvSpPr txBox="1"/>
          <p:nvPr/>
        </p:nvSpPr>
        <p:spPr>
          <a:xfrm>
            <a:off x="3767328" y="3520440"/>
            <a:ext cx="1828800" cy="182880"/>
          </a:xfrm>
          <a:prstGeom prst="rect">
            <a:avLst/>
          </a:prstGeom>
          <a:noFill/>
          <a:ln/>
        </p:spPr>
        <p:txBody>
          <a:bodyPr wrap="square" lIns="0" tIns="0" rIns="0" bIns="0" rtlCol="0" anchor="t"/>
          <a:lstStyle/>
          <a:p>
            <a:pPr indent="0" marL="0">
              <a:buNone/>
            </a:pPr>
            <a:r>
              <a:rPr lang="en-US" sz="1000" b="1" dirty="0">
                <a:solidFill>
                  <a:srgbClr val="0B2545"/>
                </a:solidFill>
                <a:latin typeface="Times New Roman" pitchFamily="34" charset="0"/>
                <a:ea typeface="Times New Roman" pitchFamily="34" charset="-122"/>
                <a:cs typeface="Times New Roman" pitchFamily="34" charset="-120"/>
              </a:rPr>
              <a:t>TX  (GPIO_TX TBC)</a:t>
            </a:r>
            <a:endParaRPr lang="en-US" sz="1000" dirty="0"/>
          </a:p>
        </p:txBody>
      </p:sp>
      <p:sp>
        <p:nvSpPr>
          <p:cNvPr id="23" name="Shape 21"/>
          <p:cNvSpPr/>
          <p:nvPr/>
        </p:nvSpPr>
        <p:spPr>
          <a:xfrm>
            <a:off x="365760" y="1554480"/>
            <a:ext cx="1371600" cy="731520"/>
          </a:xfrm>
          <a:prstGeom prst="roundRect">
            <a:avLst>
              <a:gd name="adj" fmla="val 10000"/>
            </a:avLst>
          </a:prstGeom>
          <a:solidFill>
            <a:srgbClr val="FFFFFF"/>
          </a:solidFill>
          <a:ln w="9525">
            <a:solidFill>
              <a:srgbClr val="64748B"/>
            </a:solidFill>
            <a:prstDash val="solid"/>
          </a:ln>
        </p:spPr>
      </p:sp>
      <p:sp>
        <p:nvSpPr>
          <p:cNvPr id="24" name="Text 22"/>
          <p:cNvSpPr txBox="1"/>
          <p:nvPr/>
        </p:nvSpPr>
        <p:spPr>
          <a:xfrm>
            <a:off x="365760" y="1554480"/>
            <a:ext cx="1371600" cy="731520"/>
          </a:xfrm>
          <a:prstGeom prst="rect">
            <a:avLst/>
          </a:prstGeom>
          <a:noFill/>
          <a:ln/>
        </p:spPr>
        <p:txBody>
          <a:bodyPr wrap="square" lIns="0" tIns="0" rIns="0" bIns="0" rtlCol="0" anchor="ctr"/>
          <a:lstStyle/>
          <a:p>
            <a:pPr algn="ctr" indent="0" marL="0">
              <a:buNone/>
            </a:pPr>
            <a:r>
              <a:rPr lang="en-US" sz="1150" b="1" dirty="0">
                <a:solidFill>
                  <a:srgbClr val="0B2545"/>
                </a:solidFill>
                <a:latin typeface="Times New Roman" pitchFamily="34" charset="0"/>
                <a:ea typeface="Times New Roman" pitchFamily="34" charset="-122"/>
                <a:cs typeface="Times New Roman" pitchFamily="34" charset="-120"/>
              </a:rPr>
              <a:t>SOS push</a:t>
            </a:r>
            <a:endParaRPr lang="en-US" sz="1150" dirty="0"/>
          </a:p>
          <a:p>
            <a:pPr algn="ctr" indent="0" marL="0">
              <a:buNone/>
            </a:pPr>
            <a:r>
              <a:rPr lang="en-US" sz="1150" b="1" dirty="0">
                <a:solidFill>
                  <a:srgbClr val="0B2545"/>
                </a:solidFill>
                <a:latin typeface="Times New Roman" pitchFamily="34" charset="0"/>
                <a:ea typeface="Times New Roman" pitchFamily="34" charset="-122"/>
                <a:cs typeface="Times New Roman" pitchFamily="34" charset="-120"/>
              </a:rPr>
              <a:t>button</a:t>
            </a:r>
            <a:endParaRPr lang="en-US" sz="1150" dirty="0"/>
          </a:p>
        </p:txBody>
      </p:sp>
      <p:sp>
        <p:nvSpPr>
          <p:cNvPr id="25" name="Shape 23"/>
          <p:cNvSpPr/>
          <p:nvPr/>
        </p:nvSpPr>
        <p:spPr>
          <a:xfrm>
            <a:off x="1737360" y="1737360"/>
            <a:ext cx="1920240" cy="0"/>
          </a:xfrm>
          <a:prstGeom prst="line">
            <a:avLst/>
          </a:prstGeom>
          <a:noFill/>
          <a:ln w="25400">
            <a:solidFill>
              <a:srgbClr val="13A89E"/>
            </a:solidFill>
            <a:prstDash val="solid"/>
          </a:ln>
        </p:spPr>
      </p:sp>
      <p:sp>
        <p:nvSpPr>
          <p:cNvPr id="26" name="Shape 24"/>
          <p:cNvSpPr/>
          <p:nvPr/>
        </p:nvSpPr>
        <p:spPr>
          <a:xfrm>
            <a:off x="1737360" y="2103120"/>
            <a:ext cx="1920240" cy="0"/>
          </a:xfrm>
          <a:prstGeom prst="line">
            <a:avLst/>
          </a:prstGeom>
          <a:noFill/>
          <a:ln w="25400">
            <a:solidFill>
              <a:srgbClr val="111827"/>
            </a:solidFill>
            <a:prstDash val="solid"/>
          </a:ln>
        </p:spPr>
      </p:sp>
      <p:sp>
        <p:nvSpPr>
          <p:cNvPr id="27" name="Text 25"/>
          <p:cNvSpPr txBox="1"/>
          <p:nvPr/>
        </p:nvSpPr>
        <p:spPr>
          <a:xfrm>
            <a:off x="1828800" y="1417320"/>
            <a:ext cx="1828800" cy="274320"/>
          </a:xfrm>
          <a:prstGeom prst="rect">
            <a:avLst/>
          </a:prstGeom>
          <a:noFill/>
          <a:ln/>
        </p:spPr>
        <p:txBody>
          <a:bodyPr wrap="square" lIns="0" tIns="0" rIns="0" bIns="0" rtlCol="0" anchor="t"/>
          <a:lstStyle/>
          <a:p>
            <a:pPr indent="0" marL="0">
              <a:buNone/>
            </a:pPr>
            <a:r>
              <a:rPr lang="en-US" sz="950" dirty="0">
                <a:solidFill>
                  <a:srgbClr val="64748B"/>
                </a:solidFill>
                <a:latin typeface="Times New Roman" pitchFamily="34" charset="0"/>
                <a:ea typeface="Times New Roman" pitchFamily="34" charset="-122"/>
                <a:cs typeface="Times New Roman" pitchFamily="34" charset="-120"/>
              </a:rPr>
              <a:t>Pull-up on GPIO; pressed = LOW</a:t>
            </a:r>
            <a:endParaRPr lang="en-US" sz="950" dirty="0"/>
          </a:p>
        </p:txBody>
      </p:sp>
      <p:sp>
        <p:nvSpPr>
          <p:cNvPr id="28" name="Shape 26"/>
          <p:cNvSpPr/>
          <p:nvPr/>
        </p:nvSpPr>
        <p:spPr>
          <a:xfrm>
            <a:off x="365760" y="2377440"/>
            <a:ext cx="1371600" cy="1463040"/>
          </a:xfrm>
          <a:prstGeom prst="roundRect">
            <a:avLst>
              <a:gd name="adj" fmla="val 5333"/>
            </a:avLst>
          </a:prstGeom>
          <a:solidFill>
            <a:srgbClr val="FFFFFF"/>
          </a:solidFill>
          <a:ln w="9525">
            <a:solidFill>
              <a:srgbClr val="64748B"/>
            </a:solidFill>
            <a:prstDash val="solid"/>
          </a:ln>
        </p:spPr>
      </p:sp>
      <p:sp>
        <p:nvSpPr>
          <p:cNvPr id="29" name="Text 27"/>
          <p:cNvSpPr txBox="1"/>
          <p:nvPr/>
        </p:nvSpPr>
        <p:spPr>
          <a:xfrm>
            <a:off x="365760" y="2423160"/>
            <a:ext cx="1371600" cy="182880"/>
          </a:xfrm>
          <a:prstGeom prst="rect">
            <a:avLst/>
          </a:prstGeom>
          <a:noFill/>
          <a:ln/>
        </p:spPr>
        <p:txBody>
          <a:bodyPr wrap="square" lIns="0" tIns="0" rIns="0" bIns="0" rtlCol="0" anchor="t"/>
          <a:lstStyle/>
          <a:p>
            <a:pPr algn="ctr" indent="0" marL="0">
              <a:buNone/>
            </a:pPr>
            <a:r>
              <a:rPr lang="en-US" sz="1000" b="1" dirty="0">
                <a:solidFill>
                  <a:srgbClr val="0B2545"/>
                </a:solidFill>
                <a:latin typeface="Times New Roman" pitchFamily="34" charset="0"/>
                <a:ea typeface="Times New Roman" pitchFamily="34" charset="-122"/>
                <a:cs typeface="Times New Roman" pitchFamily="34" charset="-120"/>
              </a:rPr>
              <a:t>GPS module (TBC)</a:t>
            </a:r>
            <a:endParaRPr lang="en-US" sz="1000" dirty="0"/>
          </a:p>
        </p:txBody>
      </p:sp>
      <p:sp>
        <p:nvSpPr>
          <p:cNvPr id="30" name="Text 28"/>
          <p:cNvSpPr txBox="1"/>
          <p:nvPr/>
        </p:nvSpPr>
        <p:spPr>
          <a:xfrm>
            <a:off x="1097280" y="2560320"/>
            <a:ext cx="548640" cy="182880"/>
          </a:xfrm>
          <a:prstGeom prst="rect">
            <a:avLst/>
          </a:prstGeom>
          <a:noFill/>
          <a:ln/>
        </p:spPr>
        <p:txBody>
          <a:bodyPr wrap="square" lIns="0" tIns="0" rIns="0" bIns="0" rtlCol="0" anchor="t"/>
          <a:lstStyle/>
          <a:p>
            <a:pPr algn="r" indent="0" marL="0">
              <a:buNone/>
            </a:pPr>
            <a:r>
              <a:rPr lang="en-US" sz="1000" b="1" dirty="0">
                <a:solidFill>
                  <a:srgbClr val="0B2545"/>
                </a:solidFill>
                <a:latin typeface="Times New Roman" pitchFamily="34" charset="0"/>
                <a:ea typeface="Times New Roman" pitchFamily="34" charset="-122"/>
                <a:cs typeface="Times New Roman" pitchFamily="34" charset="-120"/>
              </a:rPr>
              <a:t>VCC</a:t>
            </a:r>
            <a:endParaRPr lang="en-US" sz="1000" dirty="0"/>
          </a:p>
        </p:txBody>
      </p:sp>
      <p:sp>
        <p:nvSpPr>
          <p:cNvPr id="31" name="Text 29"/>
          <p:cNvSpPr txBox="1"/>
          <p:nvPr/>
        </p:nvSpPr>
        <p:spPr>
          <a:xfrm>
            <a:off x="1097280" y="2880360"/>
            <a:ext cx="548640" cy="182880"/>
          </a:xfrm>
          <a:prstGeom prst="rect">
            <a:avLst/>
          </a:prstGeom>
          <a:noFill/>
          <a:ln/>
        </p:spPr>
        <p:txBody>
          <a:bodyPr wrap="square" lIns="0" tIns="0" rIns="0" bIns="0" rtlCol="0" anchor="t"/>
          <a:lstStyle/>
          <a:p>
            <a:pPr algn="r" indent="0" marL="0">
              <a:buNone/>
            </a:pPr>
            <a:r>
              <a:rPr lang="en-US" sz="1000" b="1" dirty="0">
                <a:solidFill>
                  <a:srgbClr val="0B2545"/>
                </a:solidFill>
                <a:latin typeface="Times New Roman" pitchFamily="34" charset="0"/>
                <a:ea typeface="Times New Roman" pitchFamily="34" charset="-122"/>
                <a:cs typeface="Times New Roman" pitchFamily="34" charset="-120"/>
              </a:rPr>
              <a:t>GND</a:t>
            </a:r>
            <a:endParaRPr lang="en-US" sz="1000" dirty="0"/>
          </a:p>
        </p:txBody>
      </p:sp>
      <p:sp>
        <p:nvSpPr>
          <p:cNvPr id="32" name="Text 30"/>
          <p:cNvSpPr txBox="1"/>
          <p:nvPr/>
        </p:nvSpPr>
        <p:spPr>
          <a:xfrm>
            <a:off x="1097280" y="3200400"/>
            <a:ext cx="548640" cy="182880"/>
          </a:xfrm>
          <a:prstGeom prst="rect">
            <a:avLst/>
          </a:prstGeom>
          <a:noFill/>
          <a:ln/>
        </p:spPr>
        <p:txBody>
          <a:bodyPr wrap="square" lIns="0" tIns="0" rIns="0" bIns="0" rtlCol="0" anchor="t"/>
          <a:lstStyle/>
          <a:p>
            <a:pPr algn="r" indent="0" marL="0">
              <a:buNone/>
            </a:pPr>
            <a:r>
              <a:rPr lang="en-US" sz="1000" b="1" dirty="0">
                <a:solidFill>
                  <a:srgbClr val="0B2545"/>
                </a:solidFill>
                <a:latin typeface="Times New Roman" pitchFamily="34" charset="0"/>
                <a:ea typeface="Times New Roman" pitchFamily="34" charset="-122"/>
                <a:cs typeface="Times New Roman" pitchFamily="34" charset="-120"/>
              </a:rPr>
              <a:t>TX</a:t>
            </a:r>
            <a:endParaRPr lang="en-US" sz="1000" dirty="0"/>
          </a:p>
        </p:txBody>
      </p:sp>
      <p:sp>
        <p:nvSpPr>
          <p:cNvPr id="33" name="Text 31"/>
          <p:cNvSpPr txBox="1"/>
          <p:nvPr/>
        </p:nvSpPr>
        <p:spPr>
          <a:xfrm>
            <a:off x="1097280" y="3520440"/>
            <a:ext cx="548640" cy="182880"/>
          </a:xfrm>
          <a:prstGeom prst="rect">
            <a:avLst/>
          </a:prstGeom>
          <a:noFill/>
          <a:ln/>
        </p:spPr>
        <p:txBody>
          <a:bodyPr wrap="square" lIns="0" tIns="0" rIns="0" bIns="0" rtlCol="0" anchor="t"/>
          <a:lstStyle/>
          <a:p>
            <a:pPr algn="r" indent="0" marL="0">
              <a:buNone/>
            </a:pPr>
            <a:r>
              <a:rPr lang="en-US" sz="1000" b="1" dirty="0">
                <a:solidFill>
                  <a:srgbClr val="0B2545"/>
                </a:solidFill>
                <a:latin typeface="Times New Roman" pitchFamily="34" charset="0"/>
                <a:ea typeface="Times New Roman" pitchFamily="34" charset="-122"/>
                <a:cs typeface="Times New Roman" pitchFamily="34" charset="-120"/>
              </a:rPr>
              <a:t>RX</a:t>
            </a:r>
            <a:endParaRPr lang="en-US" sz="1000" dirty="0"/>
          </a:p>
        </p:txBody>
      </p:sp>
      <p:sp>
        <p:nvSpPr>
          <p:cNvPr id="34" name="Shape 32"/>
          <p:cNvSpPr/>
          <p:nvPr/>
        </p:nvSpPr>
        <p:spPr>
          <a:xfrm>
            <a:off x="1737360" y="2651760"/>
            <a:ext cx="1920240" cy="0"/>
          </a:xfrm>
          <a:prstGeom prst="line">
            <a:avLst/>
          </a:prstGeom>
          <a:noFill/>
          <a:ln w="25400">
            <a:solidFill>
              <a:srgbClr val="D64550"/>
            </a:solidFill>
            <a:prstDash val="solid"/>
          </a:ln>
        </p:spPr>
      </p:sp>
      <p:sp>
        <p:nvSpPr>
          <p:cNvPr id="35" name="Shape 33"/>
          <p:cNvSpPr/>
          <p:nvPr/>
        </p:nvSpPr>
        <p:spPr>
          <a:xfrm>
            <a:off x="1737360" y="2971800"/>
            <a:ext cx="1920240" cy="0"/>
          </a:xfrm>
          <a:prstGeom prst="line">
            <a:avLst/>
          </a:prstGeom>
          <a:noFill/>
          <a:ln w="25400">
            <a:solidFill>
              <a:srgbClr val="111827"/>
            </a:solidFill>
            <a:prstDash val="solid"/>
          </a:ln>
        </p:spPr>
      </p:sp>
      <p:sp>
        <p:nvSpPr>
          <p:cNvPr id="36" name="Shape 34"/>
          <p:cNvSpPr/>
          <p:nvPr/>
        </p:nvSpPr>
        <p:spPr>
          <a:xfrm>
            <a:off x="1737360" y="3291840"/>
            <a:ext cx="1920240" cy="320040"/>
          </a:xfrm>
          <a:prstGeom prst="line">
            <a:avLst/>
          </a:prstGeom>
          <a:noFill/>
          <a:ln w="25400">
            <a:solidFill>
              <a:srgbClr val="13A89E"/>
            </a:solidFill>
            <a:prstDash val="solid"/>
            <a:tailEnd type="triangle"/>
          </a:ln>
        </p:spPr>
      </p:sp>
      <p:sp>
        <p:nvSpPr>
          <p:cNvPr id="37" name="Shape 35"/>
          <p:cNvSpPr/>
          <p:nvPr/>
        </p:nvSpPr>
        <p:spPr>
          <a:xfrm flipV="1">
            <a:off x="1737360" y="3291840"/>
            <a:ext cx="1920240" cy="320040"/>
          </a:xfrm>
          <a:prstGeom prst="line">
            <a:avLst/>
          </a:prstGeom>
          <a:noFill/>
          <a:ln w="25400">
            <a:solidFill>
              <a:srgbClr val="13A89E"/>
            </a:solidFill>
            <a:prstDash val="solid"/>
            <a:tailEnd type="triangle"/>
          </a:ln>
        </p:spPr>
      </p:sp>
      <p:sp>
        <p:nvSpPr>
          <p:cNvPr id="38" name="Text 36"/>
          <p:cNvSpPr txBox="1"/>
          <p:nvPr/>
        </p:nvSpPr>
        <p:spPr>
          <a:xfrm>
            <a:off x="1965960" y="3840480"/>
            <a:ext cx="1645920" cy="365760"/>
          </a:xfrm>
          <a:prstGeom prst="rect">
            <a:avLst/>
          </a:prstGeom>
          <a:noFill/>
          <a:ln/>
        </p:spPr>
        <p:txBody>
          <a:bodyPr wrap="square" lIns="0" tIns="0" rIns="0" bIns="0" rtlCol="0" anchor="t"/>
          <a:lstStyle/>
          <a:p>
            <a:pPr indent="0" marL="0">
              <a:buNone/>
            </a:pPr>
            <a:r>
              <a:rPr lang="en-US" sz="950" b="1" dirty="0">
                <a:solidFill>
                  <a:srgbClr val="0F766E"/>
                </a:solidFill>
                <a:latin typeface="Times New Roman" pitchFamily="34" charset="0"/>
                <a:ea typeface="Times New Roman" pitchFamily="34" charset="-122"/>
                <a:cs typeface="Times New Roman" pitchFamily="34" charset="-120"/>
              </a:rPr>
              <a:t>GPS TX → ESP32 RX</a:t>
            </a:r>
            <a:endParaRPr lang="en-US" sz="950" dirty="0"/>
          </a:p>
          <a:p>
            <a:pPr indent="0" marL="0">
              <a:buNone/>
            </a:pPr>
            <a:r>
              <a:rPr lang="en-US" sz="950" b="1" dirty="0">
                <a:solidFill>
                  <a:srgbClr val="0F766E"/>
                </a:solidFill>
                <a:latin typeface="Times New Roman" pitchFamily="34" charset="0"/>
                <a:ea typeface="Times New Roman" pitchFamily="34" charset="-122"/>
                <a:cs typeface="Times New Roman" pitchFamily="34" charset="-120"/>
              </a:rPr>
              <a:t>ESP32 TX → GPS RX</a:t>
            </a:r>
            <a:endParaRPr lang="en-US" sz="950" dirty="0"/>
          </a:p>
        </p:txBody>
      </p:sp>
      <p:sp>
        <p:nvSpPr>
          <p:cNvPr id="39" name="Shape 37"/>
          <p:cNvSpPr/>
          <p:nvPr/>
        </p:nvSpPr>
        <p:spPr>
          <a:xfrm>
            <a:off x="5760720" y="2743200"/>
            <a:ext cx="1188720" cy="0"/>
          </a:xfrm>
          <a:prstGeom prst="line">
            <a:avLst/>
          </a:prstGeom>
          <a:noFill/>
          <a:ln w="50800">
            <a:solidFill>
              <a:srgbClr val="2B4C7E"/>
            </a:solidFill>
            <a:prstDash val="solid"/>
          </a:ln>
        </p:spPr>
      </p:sp>
      <p:sp>
        <p:nvSpPr>
          <p:cNvPr id="40" name="Shape 38"/>
          <p:cNvSpPr/>
          <p:nvPr/>
        </p:nvSpPr>
        <p:spPr>
          <a:xfrm>
            <a:off x="5669280" y="2633472"/>
            <a:ext cx="137160" cy="219456"/>
          </a:xfrm>
          <a:prstGeom prst="rect">
            <a:avLst/>
          </a:prstGeom>
          <a:solidFill>
            <a:srgbClr val="CBD5E1"/>
          </a:solidFill>
          <a:ln w="9525">
            <a:solidFill>
              <a:srgbClr val="64748B"/>
            </a:solidFill>
            <a:prstDash val="solid"/>
          </a:ln>
        </p:spPr>
      </p:sp>
      <p:sp>
        <p:nvSpPr>
          <p:cNvPr id="41" name="Text 39"/>
          <p:cNvSpPr txBox="1"/>
          <p:nvPr/>
        </p:nvSpPr>
        <p:spPr>
          <a:xfrm>
            <a:off x="5852160" y="2834640"/>
            <a:ext cx="1097280" cy="365760"/>
          </a:xfrm>
          <a:prstGeom prst="rect">
            <a:avLst/>
          </a:prstGeom>
          <a:noFill/>
          <a:ln/>
        </p:spPr>
        <p:txBody>
          <a:bodyPr wrap="square" lIns="0" tIns="0" rIns="0" bIns="0" rtlCol="0" anchor="t"/>
          <a:lstStyle/>
          <a:p>
            <a:pPr algn="ctr" indent="0" marL="0">
              <a:buNone/>
            </a:pPr>
            <a:r>
              <a:rPr lang="en-US" sz="1000" b="1" dirty="0">
                <a:solidFill>
                  <a:srgbClr val="2B4C7E"/>
                </a:solidFill>
                <a:latin typeface="Times New Roman" pitchFamily="34" charset="0"/>
                <a:ea typeface="Times New Roman" pitchFamily="34" charset="-122"/>
                <a:cs typeface="Times New Roman" pitchFamily="34" charset="-120"/>
              </a:rPr>
              <a:t>USB cable</a:t>
            </a:r>
            <a:endParaRPr lang="en-US" sz="1000" dirty="0"/>
          </a:p>
          <a:p>
            <a:pPr algn="ctr" indent="0" marL="0">
              <a:buNone/>
            </a:pPr>
            <a:r>
              <a:rPr lang="en-US" sz="1000" b="1" dirty="0">
                <a:solidFill>
                  <a:srgbClr val="2B4C7E"/>
                </a:solidFill>
                <a:latin typeface="Times New Roman" pitchFamily="34" charset="0"/>
                <a:ea typeface="Times New Roman" pitchFamily="34" charset="-122"/>
                <a:cs typeface="Times New Roman" pitchFamily="34" charset="-120"/>
              </a:rPr>
              <a:t>(data + power)</a:t>
            </a:r>
            <a:endParaRPr lang="en-US" sz="1000" dirty="0"/>
          </a:p>
        </p:txBody>
      </p:sp>
      <p:sp>
        <p:nvSpPr>
          <p:cNvPr id="42" name="Shape 40"/>
          <p:cNvSpPr/>
          <p:nvPr/>
        </p:nvSpPr>
        <p:spPr>
          <a:xfrm>
            <a:off x="6949440" y="2194560"/>
            <a:ext cx="1737360" cy="1097280"/>
          </a:xfrm>
          <a:prstGeom prst="roundRect">
            <a:avLst>
              <a:gd name="adj" fmla="val 6667"/>
            </a:avLst>
          </a:prstGeom>
          <a:solidFill>
            <a:srgbClr val="FFFFFF"/>
          </a:solidFill>
          <a:ln w="19050">
            <a:solidFill>
              <a:srgbClr val="0B2545"/>
            </a:solidFill>
            <a:prstDash val="solid"/>
          </a:ln>
        </p:spPr>
      </p:sp>
      <p:sp>
        <p:nvSpPr>
          <p:cNvPr id="43" name="Text 41"/>
          <p:cNvSpPr txBox="1"/>
          <p:nvPr/>
        </p:nvSpPr>
        <p:spPr>
          <a:xfrm>
            <a:off x="6949440" y="2194560"/>
            <a:ext cx="1737360" cy="1097280"/>
          </a:xfrm>
          <a:prstGeom prst="rect">
            <a:avLst/>
          </a:prstGeom>
          <a:noFill/>
          <a:ln/>
        </p:spPr>
        <p:txBody>
          <a:bodyPr wrap="square" lIns="0" tIns="0" rIns="0" bIns="0" rtlCol="0" anchor="ctr"/>
          <a:lstStyle/>
          <a:p>
            <a:pPr algn="ctr" indent="0" marL="0">
              <a:buNone/>
            </a:pPr>
            <a:r>
              <a:rPr lang="en-US" sz="1100" b="1" dirty="0">
                <a:solidFill>
                  <a:srgbClr val="0B2545"/>
                </a:solidFill>
                <a:latin typeface="Times New Roman" pitchFamily="34" charset="0"/>
                <a:ea typeface="Times New Roman" pitchFamily="34" charset="-122"/>
                <a:cs typeface="Times New Roman" pitchFamily="34" charset="-120"/>
              </a:rPr>
              <a:t>Computer</a:t>
            </a:r>
            <a:endParaRPr lang="en-US" sz="1100" dirty="0"/>
          </a:p>
          <a:p>
            <a:pPr algn="ctr" indent="0" marL="0">
              <a:buNone/>
            </a:pPr>
            <a:r>
              <a:rPr lang="en-US" sz="1100" b="1" dirty="0">
                <a:solidFill>
                  <a:srgbClr val="0B2545"/>
                </a:solidFill>
                <a:latin typeface="Times New Roman" pitchFamily="34" charset="0"/>
                <a:ea typeface="Times New Roman" pitchFamily="34" charset="-122"/>
                <a:cs typeface="Times New Roman" pitchFamily="34" charset="-120"/>
              </a:rPr>
              <a:t>serial monitor /</a:t>
            </a:r>
            <a:endParaRPr lang="en-US" sz="1100" dirty="0"/>
          </a:p>
          <a:p>
            <a:pPr algn="ctr" indent="0" marL="0">
              <a:buNone/>
            </a:pPr>
            <a:r>
              <a:rPr lang="en-US" sz="1100" b="1" dirty="0">
                <a:solidFill>
                  <a:srgbClr val="0B2545"/>
                </a:solidFill>
                <a:latin typeface="Times New Roman" pitchFamily="34" charset="0"/>
                <a:ea typeface="Times New Roman" pitchFamily="34" charset="-122"/>
                <a:cs typeface="Times New Roman" pitchFamily="34" charset="-120"/>
              </a:rPr>
              <a:t>application</a:t>
            </a:r>
            <a:endParaRPr lang="en-US" sz="1100" dirty="0"/>
          </a:p>
        </p:txBody>
      </p:sp>
      <p:sp>
        <p:nvSpPr>
          <p:cNvPr id="44" name="Shape 42"/>
          <p:cNvSpPr/>
          <p:nvPr/>
        </p:nvSpPr>
        <p:spPr>
          <a:xfrm>
            <a:off x="365760" y="4434840"/>
            <a:ext cx="8321040" cy="347472"/>
          </a:xfrm>
          <a:prstGeom prst="roundRect">
            <a:avLst>
              <a:gd name="adj" fmla="val 21053"/>
            </a:avLst>
          </a:prstGeom>
          <a:solidFill>
            <a:srgbClr val="FFF4D6"/>
          </a:solidFill>
          <a:ln w="9525">
            <a:solidFill>
              <a:srgbClr val="F0C14B"/>
            </a:solidFill>
            <a:prstDash val="solid"/>
          </a:ln>
        </p:spPr>
      </p:sp>
      <p:sp>
        <p:nvSpPr>
          <p:cNvPr id="45" name="Text 43"/>
          <p:cNvSpPr txBox="1"/>
          <p:nvPr/>
        </p:nvSpPr>
        <p:spPr>
          <a:xfrm>
            <a:off x="457200" y="4434840"/>
            <a:ext cx="8138160" cy="347472"/>
          </a:xfrm>
          <a:prstGeom prst="rect">
            <a:avLst/>
          </a:prstGeom>
          <a:noFill/>
          <a:ln/>
        </p:spPr>
        <p:txBody>
          <a:bodyPr wrap="square" lIns="0" tIns="0" rIns="0" bIns="0" rtlCol="0" anchor="ctr"/>
          <a:lstStyle/>
          <a:p>
            <a:pPr indent="0" marL="0">
              <a:buNone/>
            </a:pPr>
            <a:r>
              <a:rPr lang="en-US" sz="950" dirty="0">
                <a:solidFill>
                  <a:srgbClr val="1E293B"/>
                </a:solidFill>
                <a:latin typeface="Times New Roman" pitchFamily="34" charset="0"/>
                <a:ea typeface="Times New Roman" pitchFamily="34" charset="-122"/>
                <a:cs typeface="Times New Roman" pitchFamily="34" charset="-120"/>
              </a:rPr>
              <a:t>TBC = to be confirmed. GPS VCC per module datasheet. ESP32-C3 GPIO is 3.3 V: GPS UART must be 3.3 V logic (else use a level shifter). MPU6050 connects over I2C (SDA/SCL) at 3.3 V; SDA/SCL pins TBC.</a:t>
            </a:r>
            <a:endParaRPr lang="en-US" sz="950" dirty="0"/>
          </a:p>
        </p:txBody>
      </p:sp>
      <p:sp>
        <p:nvSpPr>
          <p:cNvPr id="201" name="MPU6050 box"/>
          <p:cNvSpPr/>
          <p:nvPr/>
        </p:nvSpPr>
        <p:spPr>
          <a:xfrm>
            <a:off x="6492240" y="3401568"/>
            <a:ext cx="2194560" cy="914400"/>
          </a:xfrm>
          <a:prstGeom prst="roundRect">
            <a:avLst>
              <a:gd name="adj" fmla="val 5333"/>
            </a:avLst>
          </a:prstGeom>
          <a:solidFill>
            <a:srgbClr val="FFFFFF"/>
          </a:solidFill>
          <a:ln w="9525">
            <a:solidFill>
              <a:srgbClr val="64748B"/>
            </a:solidFill>
            <a:prstDash val="solid"/>
          </a:ln>
        </p:spPr>
      </p:sp>
      <p:sp>
        <p:nvSpPr>
          <p:cNvPr id="202" name="MPU6050 title"/>
          <p:cNvSpPr txBox="1"/>
          <p:nvPr/>
        </p:nvSpPr>
        <p:spPr>
          <a:xfrm>
            <a:off x="6492240" y="3438144"/>
            <a:ext cx="2194560" cy="182880"/>
          </a:xfrm>
          <a:prstGeom prst="rect">
            <a:avLst/>
          </a:prstGeom>
          <a:noFill/>
        </p:spPr>
        <p:txBody>
          <a:bodyPr wrap="square" lIns="0" tIns="0" rIns="0" bIns="0" rtlCol="0" anchor="t"/>
          <a:lstStyle/>
          <a:p>
            <a:pPr algn="ctr" indent="0" marL="0">
              <a:buNone/>
            </a:pPr>
            <a:r>
              <a:rPr lang="en-US" sz="1000" b="1" dirty="0">
                <a:solidFill>
                  <a:srgbClr val="0B2545"/>
                </a:solidFill>
                <a:latin typeface="Times New Roman" pitchFamily="34" charset="0"/>
                <a:ea typeface="Times New Roman" pitchFamily="34" charset="-122"/>
                <a:cs typeface="Times New Roman" pitchFamily="34" charset="-120"/>
              </a:rPr>
              <a:t>MPU6050 (I2C sensor)</a:t>
            </a:r>
          </a:p>
        </p:txBody>
      </p:sp>
      <p:sp>
        <p:nvSpPr>
          <p:cNvPr id="203" name="MPU wire VCC"/>
          <p:cNvSpPr/>
          <p:nvPr/>
        </p:nvSpPr>
        <p:spPr>
          <a:xfrm>
            <a:off x="5760720" y="3657600"/>
            <a:ext cx="731520" cy="0"/>
          </a:xfrm>
          <a:prstGeom prst="line">
            <a:avLst/>
          </a:prstGeom>
          <a:noFill/>
          <a:ln w="25400">
            <a:solidFill>
              <a:srgbClr val="D64550"/>
            </a:solidFill>
            <a:prstDash val="solid"/>
          </a:ln>
        </p:spPr>
      </p:sp>
      <p:sp>
        <p:nvSpPr>
          <p:cNvPr id="204" name="ESP label 3V3"/>
          <p:cNvSpPr txBox="1"/>
          <p:nvPr/>
        </p:nvSpPr>
        <p:spPr>
          <a:xfrm>
            <a:off x="5212080" y="3575304"/>
            <a:ext cx="475488" cy="182880"/>
          </a:xfrm>
          <a:prstGeom prst="rect">
            <a:avLst/>
          </a:prstGeom>
          <a:noFill/>
        </p:spPr>
        <p:txBody>
          <a:bodyPr wrap="square" lIns="0" tIns="0" rIns="0" bIns="0" rtlCol="0" anchor="t"/>
          <a:lstStyle/>
          <a:p>
            <a:pPr algn="r" indent="0" marL="0">
              <a:buNone/>
            </a:pPr>
            <a:r>
              <a:rPr lang="en-US" sz="1000" b="1" dirty="0">
                <a:solidFill>
                  <a:srgbClr val="0B2545"/>
                </a:solidFill>
                <a:latin typeface="Times New Roman" pitchFamily="34" charset="0"/>
                <a:ea typeface="Times New Roman" pitchFamily="34" charset="-122"/>
                <a:cs typeface="Times New Roman" pitchFamily="34" charset="-120"/>
              </a:rPr>
              <a:t>3V3</a:t>
            </a:r>
          </a:p>
        </p:txBody>
      </p:sp>
      <p:sp>
        <p:nvSpPr>
          <p:cNvPr id="205" name="MPU pin VCC"/>
          <p:cNvSpPr txBox="1"/>
          <p:nvPr/>
        </p:nvSpPr>
        <p:spPr>
          <a:xfrm>
            <a:off x="6583680" y="3575304"/>
            <a:ext cx="548640" cy="182880"/>
          </a:xfrm>
          <a:prstGeom prst="rect">
            <a:avLst/>
          </a:prstGeom>
          <a:noFill/>
        </p:spPr>
        <p:txBody>
          <a:bodyPr wrap="square" lIns="0" tIns="0" rIns="0" bIns="0" rtlCol="0" anchor="t"/>
          <a:lstStyle/>
          <a:p>
            <a:pPr indent="0" marL="0">
              <a:buNone/>
            </a:pPr>
            <a:r>
              <a:rPr lang="en-US" sz="1000" b="1" dirty="0">
                <a:solidFill>
                  <a:srgbClr val="0B2545"/>
                </a:solidFill>
                <a:latin typeface="Times New Roman" pitchFamily="34" charset="0"/>
                <a:ea typeface="Times New Roman" pitchFamily="34" charset="-122"/>
                <a:cs typeface="Times New Roman" pitchFamily="34" charset="-120"/>
              </a:rPr>
              <a:t>VCC</a:t>
            </a:r>
          </a:p>
        </p:txBody>
      </p:sp>
      <p:sp>
        <p:nvSpPr>
          <p:cNvPr id="206" name="MPU wire GND"/>
          <p:cNvSpPr/>
          <p:nvPr/>
        </p:nvSpPr>
        <p:spPr>
          <a:xfrm>
            <a:off x="5760720" y="3840480"/>
            <a:ext cx="731520" cy="0"/>
          </a:xfrm>
          <a:prstGeom prst="line">
            <a:avLst/>
          </a:prstGeom>
          <a:noFill/>
          <a:ln w="25400">
            <a:solidFill>
              <a:srgbClr val="111827"/>
            </a:solidFill>
            <a:prstDash val="solid"/>
          </a:ln>
        </p:spPr>
      </p:sp>
      <p:sp>
        <p:nvSpPr>
          <p:cNvPr id="207" name="ESP label GND"/>
          <p:cNvSpPr txBox="1"/>
          <p:nvPr/>
        </p:nvSpPr>
        <p:spPr>
          <a:xfrm>
            <a:off x="5212080" y="3758184"/>
            <a:ext cx="475488" cy="182880"/>
          </a:xfrm>
          <a:prstGeom prst="rect">
            <a:avLst/>
          </a:prstGeom>
          <a:noFill/>
        </p:spPr>
        <p:txBody>
          <a:bodyPr wrap="square" lIns="0" tIns="0" rIns="0" bIns="0" rtlCol="0" anchor="t"/>
          <a:lstStyle/>
          <a:p>
            <a:pPr algn="r" indent="0" marL="0">
              <a:buNone/>
            </a:pPr>
            <a:r>
              <a:rPr lang="en-US" sz="1000" b="1" dirty="0">
                <a:solidFill>
                  <a:srgbClr val="0B2545"/>
                </a:solidFill>
                <a:latin typeface="Times New Roman" pitchFamily="34" charset="0"/>
                <a:ea typeface="Times New Roman" pitchFamily="34" charset="-122"/>
                <a:cs typeface="Times New Roman" pitchFamily="34" charset="-120"/>
              </a:rPr>
              <a:t>GND</a:t>
            </a:r>
          </a:p>
        </p:txBody>
      </p:sp>
      <p:sp>
        <p:nvSpPr>
          <p:cNvPr id="208" name="MPU pin GND"/>
          <p:cNvSpPr txBox="1"/>
          <p:nvPr/>
        </p:nvSpPr>
        <p:spPr>
          <a:xfrm>
            <a:off x="6583680" y="3758184"/>
            <a:ext cx="548640" cy="182880"/>
          </a:xfrm>
          <a:prstGeom prst="rect">
            <a:avLst/>
          </a:prstGeom>
          <a:noFill/>
        </p:spPr>
        <p:txBody>
          <a:bodyPr wrap="square" lIns="0" tIns="0" rIns="0" bIns="0" rtlCol="0" anchor="t"/>
          <a:lstStyle/>
          <a:p>
            <a:pPr indent="0" marL="0">
              <a:buNone/>
            </a:pPr>
            <a:r>
              <a:rPr lang="en-US" sz="1000" b="1" dirty="0">
                <a:solidFill>
                  <a:srgbClr val="0B2545"/>
                </a:solidFill>
                <a:latin typeface="Times New Roman" pitchFamily="34" charset="0"/>
                <a:ea typeface="Times New Roman" pitchFamily="34" charset="-122"/>
                <a:cs typeface="Times New Roman" pitchFamily="34" charset="-120"/>
              </a:rPr>
              <a:t>GND</a:t>
            </a:r>
          </a:p>
        </p:txBody>
      </p:sp>
      <p:sp>
        <p:nvSpPr>
          <p:cNvPr id="209" name="MPU wire SDA"/>
          <p:cNvSpPr/>
          <p:nvPr/>
        </p:nvSpPr>
        <p:spPr>
          <a:xfrm>
            <a:off x="5760720" y="4023360"/>
            <a:ext cx="731520" cy="0"/>
          </a:xfrm>
          <a:prstGeom prst="line">
            <a:avLst/>
          </a:prstGeom>
          <a:noFill/>
          <a:ln w="25400">
            <a:solidFill>
              <a:srgbClr val="13A89E"/>
            </a:solidFill>
            <a:prstDash val="solid"/>
          </a:ln>
        </p:spPr>
      </p:sp>
      <p:sp>
        <p:nvSpPr>
          <p:cNvPr id="210" name="ESP label SDA"/>
          <p:cNvSpPr txBox="1"/>
          <p:nvPr/>
        </p:nvSpPr>
        <p:spPr>
          <a:xfrm>
            <a:off x="5212080" y="3941064"/>
            <a:ext cx="475488" cy="182880"/>
          </a:xfrm>
          <a:prstGeom prst="rect">
            <a:avLst/>
          </a:prstGeom>
          <a:noFill/>
        </p:spPr>
        <p:txBody>
          <a:bodyPr wrap="square" lIns="0" tIns="0" rIns="0" bIns="0" rtlCol="0" anchor="t"/>
          <a:lstStyle/>
          <a:p>
            <a:pPr algn="r" indent="0" marL="0">
              <a:buNone/>
            </a:pPr>
            <a:r>
              <a:rPr lang="en-US" sz="1000" b="1" dirty="0">
                <a:solidFill>
                  <a:srgbClr val="0B2545"/>
                </a:solidFill>
                <a:latin typeface="Times New Roman" pitchFamily="34" charset="0"/>
                <a:ea typeface="Times New Roman" pitchFamily="34" charset="-122"/>
                <a:cs typeface="Times New Roman" pitchFamily="34" charset="-120"/>
              </a:rPr>
              <a:t>SDA</a:t>
            </a:r>
          </a:p>
        </p:txBody>
      </p:sp>
      <p:sp>
        <p:nvSpPr>
          <p:cNvPr id="211" name="MPU pin SDA"/>
          <p:cNvSpPr txBox="1"/>
          <p:nvPr/>
        </p:nvSpPr>
        <p:spPr>
          <a:xfrm>
            <a:off x="6583680" y="3941064"/>
            <a:ext cx="548640" cy="182880"/>
          </a:xfrm>
          <a:prstGeom prst="rect">
            <a:avLst/>
          </a:prstGeom>
          <a:noFill/>
        </p:spPr>
        <p:txBody>
          <a:bodyPr wrap="square" lIns="0" tIns="0" rIns="0" bIns="0" rtlCol="0" anchor="t"/>
          <a:lstStyle/>
          <a:p>
            <a:pPr indent="0" marL="0">
              <a:buNone/>
            </a:pPr>
            <a:r>
              <a:rPr lang="en-US" sz="1000" b="1" dirty="0">
                <a:solidFill>
                  <a:srgbClr val="0B2545"/>
                </a:solidFill>
                <a:latin typeface="Times New Roman" pitchFamily="34" charset="0"/>
                <a:ea typeface="Times New Roman" pitchFamily="34" charset="-122"/>
                <a:cs typeface="Times New Roman" pitchFamily="34" charset="-120"/>
              </a:rPr>
              <a:t>SDA</a:t>
            </a:r>
          </a:p>
        </p:txBody>
      </p:sp>
      <p:sp>
        <p:nvSpPr>
          <p:cNvPr id="212" name="MPU wire SCL"/>
          <p:cNvSpPr/>
          <p:nvPr/>
        </p:nvSpPr>
        <p:spPr>
          <a:xfrm>
            <a:off x="5760720" y="4206240"/>
            <a:ext cx="731520" cy="0"/>
          </a:xfrm>
          <a:prstGeom prst="line">
            <a:avLst/>
          </a:prstGeom>
          <a:noFill/>
          <a:ln w="25400">
            <a:solidFill>
              <a:srgbClr val="13A89E"/>
            </a:solidFill>
            <a:prstDash val="solid"/>
          </a:ln>
        </p:spPr>
      </p:sp>
      <p:sp>
        <p:nvSpPr>
          <p:cNvPr id="213" name="ESP label SCL"/>
          <p:cNvSpPr txBox="1"/>
          <p:nvPr/>
        </p:nvSpPr>
        <p:spPr>
          <a:xfrm>
            <a:off x="5212080" y="4123944"/>
            <a:ext cx="475488" cy="182880"/>
          </a:xfrm>
          <a:prstGeom prst="rect">
            <a:avLst/>
          </a:prstGeom>
          <a:noFill/>
        </p:spPr>
        <p:txBody>
          <a:bodyPr wrap="square" lIns="0" tIns="0" rIns="0" bIns="0" rtlCol="0" anchor="t"/>
          <a:lstStyle/>
          <a:p>
            <a:pPr algn="r" indent="0" marL="0">
              <a:buNone/>
            </a:pPr>
            <a:r>
              <a:rPr lang="en-US" sz="1000" b="1" dirty="0">
                <a:solidFill>
                  <a:srgbClr val="0B2545"/>
                </a:solidFill>
                <a:latin typeface="Times New Roman" pitchFamily="34" charset="0"/>
                <a:ea typeface="Times New Roman" pitchFamily="34" charset="-122"/>
                <a:cs typeface="Times New Roman" pitchFamily="34" charset="-120"/>
              </a:rPr>
              <a:t>SCL</a:t>
            </a:r>
          </a:p>
        </p:txBody>
      </p:sp>
      <p:sp>
        <p:nvSpPr>
          <p:cNvPr id="214" name="MPU pin SCL"/>
          <p:cNvSpPr txBox="1"/>
          <p:nvPr/>
        </p:nvSpPr>
        <p:spPr>
          <a:xfrm>
            <a:off x="6583680" y="4123944"/>
            <a:ext cx="548640" cy="182880"/>
          </a:xfrm>
          <a:prstGeom prst="rect">
            <a:avLst/>
          </a:prstGeom>
          <a:noFill/>
        </p:spPr>
        <p:txBody>
          <a:bodyPr wrap="square" lIns="0" tIns="0" rIns="0" bIns="0" rtlCol="0" anchor="t"/>
          <a:lstStyle/>
          <a:p>
            <a:pPr indent="0" marL="0">
              <a:buNone/>
            </a:pPr>
            <a:r>
              <a:rPr lang="en-US" sz="1000" b="1" dirty="0">
                <a:solidFill>
                  <a:srgbClr val="0B2545"/>
                </a:solidFill>
                <a:latin typeface="Times New Roman" pitchFamily="34" charset="0"/>
                <a:ea typeface="Times New Roman" pitchFamily="34" charset="-122"/>
                <a:cs typeface="Times New Roman" pitchFamily="34" charset="-120"/>
              </a:rPr>
              <a:t>SCL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3A89E"/>
          </a:solidFill>
          <a:ln w="9525">
            <a:solidFill>
              <a:srgbClr val="13A89E"/>
            </a:solidFill>
            <a:prstDash val="solid"/>
          </a:ln>
        </p:spPr>
      </p:sp>
      <p:sp>
        <p:nvSpPr>
          <p:cNvPr id="3" name="Text 1"/>
          <p:cNvSpPr txBox="1"/>
          <p:nvPr/>
        </p:nvSpPr>
        <p:spPr>
          <a:xfrm>
            <a:off x="457200" y="228600"/>
            <a:ext cx="8229600" cy="457200"/>
          </a:xfrm>
          <a:prstGeom prst="rect">
            <a:avLst/>
          </a:prstGeom>
          <a:noFill/>
          <a:ln/>
        </p:spPr>
        <p:txBody>
          <a:bodyPr wrap="square" lIns="0" tIns="0" rIns="0" bIns="0" rtlCol="0" anchor="ctr"/>
          <a:lstStyle/>
          <a:p>
            <a:pPr indent="0" marL="0">
              <a:buNone/>
            </a:pPr>
            <a:r>
              <a:rPr lang="en-US" sz="2400" b="1" dirty="0">
                <a:solidFill>
                  <a:srgbClr val="0B2545"/>
                </a:solidFill>
                <a:latin typeface="Times New Roman" pitchFamily="34" charset="0"/>
                <a:ea typeface="Times New Roman" pitchFamily="34" charset="-122"/>
                <a:cs typeface="Times New Roman" pitchFamily="34" charset="-120"/>
              </a:rPr>
              <a:t>Hardware Working Flow</a:t>
            </a:r>
            <a:endParaRPr lang="en-US" sz="2400" dirty="0"/>
          </a:p>
        </p:txBody>
      </p:sp>
      <p:sp>
        <p:nvSpPr>
          <p:cNvPr id="4" name="Text 2"/>
          <p:cNvSpPr txBox="1"/>
          <p:nvPr/>
        </p:nvSpPr>
        <p:spPr>
          <a:xfrm>
            <a:off x="457200" y="685800"/>
            <a:ext cx="8229600" cy="274320"/>
          </a:xfrm>
          <a:prstGeom prst="rect">
            <a:avLst/>
          </a:prstGeom>
          <a:noFill/>
          <a:ln/>
        </p:spPr>
        <p:txBody>
          <a:bodyPr wrap="square" lIns="0" tIns="0" rIns="0" bIns="0" rtlCol="0" anchor="t"/>
          <a:lstStyle/>
          <a:p>
            <a:pPr indent="0" marL="0">
              <a:buNone/>
            </a:pPr>
            <a:r>
              <a:rPr lang="en-US" sz="1400" dirty="0">
                <a:solidFill>
                  <a:srgbClr val="64748B"/>
                </a:solidFill>
                <a:latin typeface="Times New Roman" pitchFamily="34" charset="0"/>
                <a:ea typeface="Times New Roman" pitchFamily="34" charset="-122"/>
                <a:cs typeface="Times New Roman" pitchFamily="34" charset="-120"/>
              </a:rPr>
              <a:t>From button press to data on the computer</a:t>
            </a:r>
            <a:endParaRPr lang="en-US" sz="1400" dirty="0"/>
          </a:p>
        </p:txBody>
      </p:sp>
      <p:sp>
        <p:nvSpPr>
          <p:cNvPr id="5" name="Text 3"/>
          <p:cNvSpPr txBox="1"/>
          <p:nvPr/>
        </p:nvSpPr>
        <p:spPr>
          <a:xfrm>
            <a:off x="457200" y="4828032"/>
            <a:ext cx="6400800" cy="228600"/>
          </a:xfrm>
          <a:prstGeom prst="rect">
            <a:avLst/>
          </a:prstGeom>
          <a:noFill/>
          <a:ln/>
        </p:spPr>
        <p:txBody>
          <a:bodyPr wrap="square" lIns="0" tIns="0" rIns="0" bIns="0" rtlCol="0" anchor="t"/>
          <a:lstStyle/>
          <a:p>
            <a:pPr indent="0" marL="0">
              <a:buNone/>
            </a:pPr>
            <a:r>
              <a:rPr lang="en-US" sz="900" dirty="0">
                <a:solidFill>
                  <a:srgbClr val="64748B"/>
                </a:solidFill>
                <a:latin typeface="Times New Roman" pitchFamily="34" charset="0"/>
                <a:ea typeface="Times New Roman" pitchFamily="34" charset="-122"/>
                <a:cs typeface="Times New Roman" pitchFamily="34" charset="-120"/>
              </a:rPr>
              <a:t>IoT-Based Smart Women’s Safety Belt  |  Hardware Implementation</a:t>
            </a:r>
            <a:endParaRPr lang="en-US" sz="900" dirty="0"/>
          </a:p>
        </p:txBody>
      </p:sp>
      <p:sp>
        <p:nvSpPr>
          <p:cNvPr id="6" name="Text 4"/>
          <p:cNvSpPr txBox="1"/>
          <p:nvPr/>
        </p:nvSpPr>
        <p:spPr>
          <a:xfrm>
            <a:off x="8229600" y="4828032"/>
            <a:ext cx="457200" cy="228600"/>
          </a:xfrm>
          <a:prstGeom prst="rect">
            <a:avLst/>
          </a:prstGeom>
          <a:noFill/>
          <a:ln/>
        </p:spPr>
        <p:txBody>
          <a:bodyPr wrap="square" lIns="0" tIns="0" rIns="0" bIns="0" rtlCol="0" anchor="t"/>
          <a:lstStyle/>
          <a:p>
            <a:pPr algn="r" indent="0" marL="0">
              <a:buNone/>
            </a:pPr>
            <a:r>
              <a:rPr lang="en-US" sz="900" dirty="0">
                <a:solidFill>
                  <a:srgbClr val="64748B"/>
                </a:solidFill>
                <a:latin typeface="Times New Roman" pitchFamily="34" charset="0"/>
                <a:ea typeface="Times New Roman" pitchFamily="34" charset="-122"/>
                <a:cs typeface="Times New Roman" pitchFamily="34" charset="-120"/>
              </a:rPr>
              <a:t>8</a:t>
            </a:r>
            <a:endParaRPr lang="en-US" sz="900" dirty="0"/>
          </a:p>
        </p:txBody>
      </p:sp>
      <p:sp>
        <p:nvSpPr>
          <p:cNvPr id="7" name="Shape 5"/>
          <p:cNvSpPr/>
          <p:nvPr/>
        </p:nvSpPr>
        <p:spPr>
          <a:xfrm>
            <a:off x="365760" y="1371600"/>
            <a:ext cx="1371600" cy="1234440"/>
          </a:xfrm>
          <a:prstGeom prst="roundRect">
            <a:avLst>
              <a:gd name="adj" fmla="val 5926"/>
            </a:avLst>
          </a:prstGeom>
          <a:solidFill>
            <a:srgbClr val="2B4C7E"/>
          </a:solidFill>
          <a:ln w="9525">
            <a:solidFill>
              <a:srgbClr val="2B4C7E"/>
            </a:solidFill>
            <a:prstDash val="solid"/>
          </a:ln>
        </p:spPr>
      </p:sp>
      <p:sp>
        <p:nvSpPr>
          <p:cNvPr id="8" name="Shape 6"/>
          <p:cNvSpPr/>
          <p:nvPr/>
        </p:nvSpPr>
        <p:spPr>
          <a:xfrm>
            <a:off x="914400" y="1261872"/>
            <a:ext cx="274320" cy="274320"/>
          </a:xfrm>
          <a:prstGeom prst="ellipse">
            <a:avLst/>
          </a:prstGeom>
          <a:solidFill>
            <a:srgbClr val="13A89E"/>
          </a:solidFill>
          <a:ln w="12700">
            <a:solidFill>
              <a:srgbClr val="FFFFFF"/>
            </a:solidFill>
            <a:prstDash val="solid"/>
          </a:ln>
        </p:spPr>
      </p:sp>
      <p:sp>
        <p:nvSpPr>
          <p:cNvPr id="9" name="Text 7"/>
          <p:cNvSpPr txBox="1"/>
          <p:nvPr/>
        </p:nvSpPr>
        <p:spPr>
          <a:xfrm>
            <a:off x="914400" y="12618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1</a:t>
            </a:r>
            <a:endParaRPr lang="en-US" sz="1100" dirty="0"/>
          </a:p>
        </p:txBody>
      </p:sp>
      <p:sp>
        <p:nvSpPr>
          <p:cNvPr id="10" name="Text 8"/>
          <p:cNvSpPr txBox="1"/>
          <p:nvPr/>
        </p:nvSpPr>
        <p:spPr>
          <a:xfrm>
            <a:off x="438912" y="1600200"/>
            <a:ext cx="1225296"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SOS Button Pressed</a:t>
            </a:r>
            <a:endParaRPr lang="en-US" sz="1200" dirty="0"/>
          </a:p>
        </p:txBody>
      </p:sp>
      <p:sp>
        <p:nvSpPr>
          <p:cNvPr id="11" name="Shape 9"/>
          <p:cNvSpPr/>
          <p:nvPr/>
        </p:nvSpPr>
        <p:spPr>
          <a:xfrm>
            <a:off x="1737360" y="1984248"/>
            <a:ext cx="388620" cy="0"/>
          </a:xfrm>
          <a:prstGeom prst="line">
            <a:avLst/>
          </a:prstGeom>
          <a:noFill/>
          <a:ln w="31750">
            <a:solidFill>
              <a:srgbClr val="13A89E"/>
            </a:solidFill>
            <a:prstDash val="solid"/>
            <a:tailEnd type="triangle"/>
          </a:ln>
        </p:spPr>
      </p:sp>
      <p:sp>
        <p:nvSpPr>
          <p:cNvPr id="12" name="Shape 10"/>
          <p:cNvSpPr/>
          <p:nvPr/>
        </p:nvSpPr>
        <p:spPr>
          <a:xfrm>
            <a:off x="2125980" y="1371600"/>
            <a:ext cx="1371600" cy="1234440"/>
          </a:xfrm>
          <a:prstGeom prst="roundRect">
            <a:avLst>
              <a:gd name="adj" fmla="val 5926"/>
            </a:avLst>
          </a:prstGeom>
          <a:solidFill>
            <a:srgbClr val="0B2545"/>
          </a:solidFill>
          <a:ln w="9525">
            <a:solidFill>
              <a:srgbClr val="0B2545"/>
            </a:solidFill>
            <a:prstDash val="solid"/>
          </a:ln>
        </p:spPr>
      </p:sp>
      <p:sp>
        <p:nvSpPr>
          <p:cNvPr id="13" name="Shape 11"/>
          <p:cNvSpPr/>
          <p:nvPr/>
        </p:nvSpPr>
        <p:spPr>
          <a:xfrm>
            <a:off x="2674620" y="1261872"/>
            <a:ext cx="274320" cy="274320"/>
          </a:xfrm>
          <a:prstGeom prst="ellipse">
            <a:avLst/>
          </a:prstGeom>
          <a:solidFill>
            <a:srgbClr val="13A89E"/>
          </a:solidFill>
          <a:ln w="12700">
            <a:solidFill>
              <a:srgbClr val="FFFFFF"/>
            </a:solidFill>
            <a:prstDash val="solid"/>
          </a:ln>
        </p:spPr>
      </p:sp>
      <p:sp>
        <p:nvSpPr>
          <p:cNvPr id="14" name="Text 12"/>
          <p:cNvSpPr txBox="1"/>
          <p:nvPr/>
        </p:nvSpPr>
        <p:spPr>
          <a:xfrm>
            <a:off x="2674620" y="12618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2</a:t>
            </a:r>
            <a:endParaRPr lang="en-US" sz="1100" dirty="0"/>
          </a:p>
        </p:txBody>
      </p:sp>
      <p:sp>
        <p:nvSpPr>
          <p:cNvPr id="15" name="Text 13"/>
          <p:cNvSpPr txBox="1"/>
          <p:nvPr/>
        </p:nvSpPr>
        <p:spPr>
          <a:xfrm>
            <a:off x="2199132" y="1600200"/>
            <a:ext cx="1225296"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ESP32-C3 Detects Input</a:t>
            </a:r>
            <a:endParaRPr lang="en-US" sz="1200" dirty="0"/>
          </a:p>
        </p:txBody>
      </p:sp>
      <p:sp>
        <p:nvSpPr>
          <p:cNvPr id="16" name="Shape 14"/>
          <p:cNvSpPr/>
          <p:nvPr/>
        </p:nvSpPr>
        <p:spPr>
          <a:xfrm>
            <a:off x="3497580" y="1984248"/>
            <a:ext cx="388620" cy="0"/>
          </a:xfrm>
          <a:prstGeom prst="line">
            <a:avLst/>
          </a:prstGeom>
          <a:noFill/>
          <a:ln w="31750">
            <a:solidFill>
              <a:srgbClr val="13A89E"/>
            </a:solidFill>
            <a:prstDash val="solid"/>
            <a:tailEnd type="triangle"/>
          </a:ln>
        </p:spPr>
      </p:sp>
      <p:sp>
        <p:nvSpPr>
          <p:cNvPr id="17" name="Shape 15"/>
          <p:cNvSpPr/>
          <p:nvPr/>
        </p:nvSpPr>
        <p:spPr>
          <a:xfrm>
            <a:off x="3886200" y="1371600"/>
            <a:ext cx="1371600" cy="1234440"/>
          </a:xfrm>
          <a:prstGeom prst="roundRect">
            <a:avLst>
              <a:gd name="adj" fmla="val 5926"/>
            </a:avLst>
          </a:prstGeom>
          <a:solidFill>
            <a:srgbClr val="2B4C7E"/>
          </a:solidFill>
          <a:ln w="9525">
            <a:solidFill>
              <a:srgbClr val="2B4C7E"/>
            </a:solidFill>
            <a:prstDash val="solid"/>
          </a:ln>
        </p:spPr>
      </p:sp>
      <p:sp>
        <p:nvSpPr>
          <p:cNvPr id="18" name="Shape 16"/>
          <p:cNvSpPr/>
          <p:nvPr/>
        </p:nvSpPr>
        <p:spPr>
          <a:xfrm>
            <a:off x="4434840" y="1261872"/>
            <a:ext cx="274320" cy="274320"/>
          </a:xfrm>
          <a:prstGeom prst="ellipse">
            <a:avLst/>
          </a:prstGeom>
          <a:solidFill>
            <a:srgbClr val="13A89E"/>
          </a:solidFill>
          <a:ln w="12700">
            <a:solidFill>
              <a:srgbClr val="FFFFFF"/>
            </a:solidFill>
            <a:prstDash val="solid"/>
          </a:ln>
        </p:spPr>
      </p:sp>
      <p:sp>
        <p:nvSpPr>
          <p:cNvPr id="19" name="Text 17"/>
          <p:cNvSpPr txBox="1"/>
          <p:nvPr/>
        </p:nvSpPr>
        <p:spPr>
          <a:xfrm>
            <a:off x="4434840" y="12618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3</a:t>
            </a:r>
            <a:endParaRPr lang="en-US" sz="1100" dirty="0"/>
          </a:p>
        </p:txBody>
      </p:sp>
      <p:sp>
        <p:nvSpPr>
          <p:cNvPr id="20" name="Text 18"/>
          <p:cNvSpPr txBox="1"/>
          <p:nvPr/>
        </p:nvSpPr>
        <p:spPr>
          <a:xfrm>
            <a:off x="3959352" y="1600200"/>
            <a:ext cx="1225296"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ESP32-C3 Reads GPS Data</a:t>
            </a:r>
            <a:endParaRPr lang="en-US" sz="1200" dirty="0"/>
          </a:p>
        </p:txBody>
      </p:sp>
      <p:sp>
        <p:nvSpPr>
          <p:cNvPr id="21" name="Shape 19"/>
          <p:cNvSpPr/>
          <p:nvPr/>
        </p:nvSpPr>
        <p:spPr>
          <a:xfrm>
            <a:off x="5257800" y="1984248"/>
            <a:ext cx="388620" cy="0"/>
          </a:xfrm>
          <a:prstGeom prst="line">
            <a:avLst/>
          </a:prstGeom>
          <a:noFill/>
          <a:ln w="31750">
            <a:solidFill>
              <a:srgbClr val="13A89E"/>
            </a:solidFill>
            <a:prstDash val="solid"/>
            <a:tailEnd type="triangle"/>
          </a:ln>
        </p:spPr>
      </p:sp>
      <p:sp>
        <p:nvSpPr>
          <p:cNvPr id="22" name="Shape 20"/>
          <p:cNvSpPr/>
          <p:nvPr/>
        </p:nvSpPr>
        <p:spPr>
          <a:xfrm>
            <a:off x="5646420" y="1371600"/>
            <a:ext cx="1371600" cy="1234440"/>
          </a:xfrm>
          <a:prstGeom prst="roundRect">
            <a:avLst>
              <a:gd name="adj" fmla="val 5926"/>
            </a:avLst>
          </a:prstGeom>
          <a:solidFill>
            <a:srgbClr val="0B2545"/>
          </a:solidFill>
          <a:ln w="9525">
            <a:solidFill>
              <a:srgbClr val="0B2545"/>
            </a:solidFill>
            <a:prstDash val="solid"/>
          </a:ln>
        </p:spPr>
      </p:sp>
      <p:sp>
        <p:nvSpPr>
          <p:cNvPr id="23" name="Shape 21"/>
          <p:cNvSpPr/>
          <p:nvPr/>
        </p:nvSpPr>
        <p:spPr>
          <a:xfrm>
            <a:off x="6195060" y="1261872"/>
            <a:ext cx="274320" cy="274320"/>
          </a:xfrm>
          <a:prstGeom prst="ellipse">
            <a:avLst/>
          </a:prstGeom>
          <a:solidFill>
            <a:srgbClr val="13A89E"/>
          </a:solidFill>
          <a:ln w="12700">
            <a:solidFill>
              <a:srgbClr val="FFFFFF"/>
            </a:solidFill>
            <a:prstDash val="solid"/>
          </a:ln>
        </p:spPr>
      </p:sp>
      <p:sp>
        <p:nvSpPr>
          <p:cNvPr id="24" name="Text 22"/>
          <p:cNvSpPr txBox="1"/>
          <p:nvPr/>
        </p:nvSpPr>
        <p:spPr>
          <a:xfrm>
            <a:off x="6195060" y="12618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4</a:t>
            </a:r>
            <a:endParaRPr lang="en-US" sz="1100" dirty="0"/>
          </a:p>
        </p:txBody>
      </p:sp>
      <p:sp>
        <p:nvSpPr>
          <p:cNvPr id="25" name="Text 23"/>
          <p:cNvSpPr txBox="1"/>
          <p:nvPr/>
        </p:nvSpPr>
        <p:spPr>
          <a:xfrm>
            <a:off x="5719572" y="1600200"/>
            <a:ext cx="1225296"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Location Coordinates Processed</a:t>
            </a:r>
            <a:endParaRPr lang="en-US" sz="1200" dirty="0"/>
          </a:p>
        </p:txBody>
      </p:sp>
      <p:sp>
        <p:nvSpPr>
          <p:cNvPr id="26" name="Shape 24"/>
          <p:cNvSpPr/>
          <p:nvPr/>
        </p:nvSpPr>
        <p:spPr>
          <a:xfrm>
            <a:off x="7018020" y="1984248"/>
            <a:ext cx="388620" cy="0"/>
          </a:xfrm>
          <a:prstGeom prst="line">
            <a:avLst/>
          </a:prstGeom>
          <a:noFill/>
          <a:ln w="31750">
            <a:solidFill>
              <a:srgbClr val="13A89E"/>
            </a:solidFill>
            <a:prstDash val="solid"/>
            <a:tailEnd type="triangle"/>
          </a:ln>
        </p:spPr>
      </p:sp>
      <p:sp>
        <p:nvSpPr>
          <p:cNvPr id="27" name="Shape 25"/>
          <p:cNvSpPr/>
          <p:nvPr/>
        </p:nvSpPr>
        <p:spPr>
          <a:xfrm>
            <a:off x="7406640" y="1371600"/>
            <a:ext cx="1371600" cy="1234440"/>
          </a:xfrm>
          <a:prstGeom prst="roundRect">
            <a:avLst>
              <a:gd name="adj" fmla="val 5926"/>
            </a:avLst>
          </a:prstGeom>
          <a:solidFill>
            <a:srgbClr val="2B4C7E"/>
          </a:solidFill>
          <a:ln w="9525">
            <a:solidFill>
              <a:srgbClr val="2B4C7E"/>
            </a:solidFill>
            <a:prstDash val="solid"/>
          </a:ln>
        </p:spPr>
      </p:sp>
      <p:sp>
        <p:nvSpPr>
          <p:cNvPr id="28" name="Shape 26"/>
          <p:cNvSpPr/>
          <p:nvPr/>
        </p:nvSpPr>
        <p:spPr>
          <a:xfrm>
            <a:off x="7955280" y="1261872"/>
            <a:ext cx="274320" cy="274320"/>
          </a:xfrm>
          <a:prstGeom prst="ellipse">
            <a:avLst/>
          </a:prstGeom>
          <a:solidFill>
            <a:srgbClr val="13A89E"/>
          </a:solidFill>
          <a:ln w="12700">
            <a:solidFill>
              <a:srgbClr val="FFFFFF"/>
            </a:solidFill>
            <a:prstDash val="solid"/>
          </a:ln>
        </p:spPr>
      </p:sp>
      <p:sp>
        <p:nvSpPr>
          <p:cNvPr id="29" name="Text 27"/>
          <p:cNvSpPr txBox="1"/>
          <p:nvPr/>
        </p:nvSpPr>
        <p:spPr>
          <a:xfrm>
            <a:off x="7955280" y="12618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5</a:t>
            </a:r>
            <a:endParaRPr lang="en-US" sz="1100" dirty="0"/>
          </a:p>
        </p:txBody>
      </p:sp>
      <p:sp>
        <p:nvSpPr>
          <p:cNvPr id="30" name="Text 28"/>
          <p:cNvSpPr txBox="1"/>
          <p:nvPr/>
        </p:nvSpPr>
        <p:spPr>
          <a:xfrm>
            <a:off x="7479792" y="1600200"/>
            <a:ext cx="1225296" cy="960120"/>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Data Transferred to Computer Through USB</a:t>
            </a:r>
            <a:endParaRPr lang="en-US" sz="1200" dirty="0"/>
          </a:p>
        </p:txBody>
      </p:sp>
      <p:sp>
        <p:nvSpPr>
          <p:cNvPr id="31" name="Shape 29"/>
          <p:cNvSpPr/>
          <p:nvPr/>
        </p:nvSpPr>
        <p:spPr>
          <a:xfrm>
            <a:off x="457200" y="3017520"/>
            <a:ext cx="2651760" cy="1508760"/>
          </a:xfrm>
          <a:prstGeom prst="roundRect">
            <a:avLst>
              <a:gd name="adj" fmla="val 4848"/>
            </a:avLst>
          </a:prstGeom>
          <a:solidFill>
            <a:srgbClr val="FFFFFF"/>
          </a:solidFill>
          <a:ln w="9525">
            <a:solidFill>
              <a:srgbClr val="D5DEE8"/>
            </a:solidFill>
            <a:prstDash val="solid"/>
          </a:ln>
        </p:spPr>
      </p:sp>
      <p:sp>
        <p:nvSpPr>
          <p:cNvPr id="32" name="Shape 30"/>
          <p:cNvSpPr/>
          <p:nvPr/>
        </p:nvSpPr>
        <p:spPr>
          <a:xfrm>
            <a:off x="457200" y="3017520"/>
            <a:ext cx="73152" cy="1508760"/>
          </a:xfrm>
          <a:prstGeom prst="rect">
            <a:avLst/>
          </a:prstGeom>
          <a:solidFill>
            <a:srgbClr val="13A89E"/>
          </a:solidFill>
          <a:ln w="9525">
            <a:solidFill>
              <a:srgbClr val="13A89E"/>
            </a:solidFill>
            <a:prstDash val="solid"/>
          </a:ln>
        </p:spPr>
      </p:sp>
      <p:sp>
        <p:nvSpPr>
          <p:cNvPr id="33" name="Text 31"/>
          <p:cNvSpPr txBox="1"/>
          <p:nvPr/>
        </p:nvSpPr>
        <p:spPr>
          <a:xfrm>
            <a:off x="685800" y="3127248"/>
            <a:ext cx="2286000" cy="457200"/>
          </a:xfrm>
          <a:prstGeom prst="rect">
            <a:avLst/>
          </a:prstGeom>
          <a:noFill/>
          <a:ln/>
        </p:spPr>
        <p:txBody>
          <a:bodyPr wrap="square" lIns="0" tIns="0" rIns="0" bIns="0" rtlCol="0" anchor="t"/>
          <a:lstStyle/>
          <a:p>
            <a:pPr indent="0" marL="0">
              <a:buNone/>
            </a:pPr>
            <a:r>
              <a:rPr lang="en-US" sz="1300" b="1" dirty="0">
                <a:solidFill>
                  <a:srgbClr val="0B2545"/>
                </a:solidFill>
                <a:latin typeface="Times New Roman" pitchFamily="34" charset="0"/>
                <a:ea typeface="Times New Roman" pitchFamily="34" charset="-122"/>
                <a:cs typeface="Times New Roman" pitchFamily="34" charset="-120"/>
              </a:rPr>
              <a:t>GPS acquisition may take time</a:t>
            </a:r>
            <a:endParaRPr lang="en-US" sz="1300" dirty="0"/>
          </a:p>
        </p:txBody>
      </p:sp>
      <p:sp>
        <p:nvSpPr>
          <p:cNvPr id="34" name="Text 32"/>
          <p:cNvSpPr txBox="1"/>
          <p:nvPr/>
        </p:nvSpPr>
        <p:spPr>
          <a:xfrm>
            <a:off x="685800" y="3639312"/>
            <a:ext cx="2286000" cy="822960"/>
          </a:xfrm>
          <a:prstGeom prst="rect">
            <a:avLst/>
          </a:prstGeom>
          <a:noFill/>
          <a:ln/>
        </p:spPr>
        <p:txBody>
          <a:bodyPr wrap="square" lIns="0" tIns="0" rIns="0" bIns="0" rtlCol="0" anchor="t"/>
          <a:lstStyle/>
          <a:p>
            <a:pPr indent="0" marL="0">
              <a:buNone/>
            </a:pPr>
            <a:r>
              <a:rPr lang="en-US" sz="1400" dirty="0">
                <a:solidFill>
                  <a:srgbClr val="1E293B"/>
                </a:solidFill>
                <a:latin typeface="Times New Roman" pitchFamily="34" charset="0"/>
                <a:ea typeface="Times New Roman" pitchFamily="34" charset="-122"/>
                <a:cs typeface="Times New Roman" pitchFamily="34" charset="-120"/>
              </a:rPr>
              <a:t>The first location fix is not instant; it varies with conditions.</a:t>
            </a:r>
            <a:endParaRPr lang="en-US" sz="1400" dirty="0"/>
          </a:p>
        </p:txBody>
      </p:sp>
      <p:sp>
        <p:nvSpPr>
          <p:cNvPr id="35" name="Shape 33"/>
          <p:cNvSpPr/>
          <p:nvPr/>
        </p:nvSpPr>
        <p:spPr>
          <a:xfrm>
            <a:off x="3246120" y="3017520"/>
            <a:ext cx="2651760" cy="1508760"/>
          </a:xfrm>
          <a:prstGeom prst="roundRect">
            <a:avLst>
              <a:gd name="adj" fmla="val 4848"/>
            </a:avLst>
          </a:prstGeom>
          <a:solidFill>
            <a:srgbClr val="FFFFFF"/>
          </a:solidFill>
          <a:ln w="9525">
            <a:solidFill>
              <a:srgbClr val="D5DEE8"/>
            </a:solidFill>
            <a:prstDash val="solid"/>
          </a:ln>
        </p:spPr>
      </p:sp>
      <p:sp>
        <p:nvSpPr>
          <p:cNvPr id="36" name="Shape 34"/>
          <p:cNvSpPr/>
          <p:nvPr/>
        </p:nvSpPr>
        <p:spPr>
          <a:xfrm>
            <a:off x="3246120" y="3017520"/>
            <a:ext cx="73152" cy="1508760"/>
          </a:xfrm>
          <a:prstGeom prst="rect">
            <a:avLst/>
          </a:prstGeom>
          <a:solidFill>
            <a:srgbClr val="13A89E"/>
          </a:solidFill>
          <a:ln w="9525">
            <a:solidFill>
              <a:srgbClr val="13A89E"/>
            </a:solidFill>
            <a:prstDash val="solid"/>
          </a:ln>
        </p:spPr>
      </p:sp>
      <p:sp>
        <p:nvSpPr>
          <p:cNvPr id="37" name="Text 35"/>
          <p:cNvSpPr txBox="1"/>
          <p:nvPr/>
        </p:nvSpPr>
        <p:spPr>
          <a:xfrm>
            <a:off x="3474720" y="3127248"/>
            <a:ext cx="2286000" cy="457200"/>
          </a:xfrm>
          <a:prstGeom prst="rect">
            <a:avLst/>
          </a:prstGeom>
          <a:noFill/>
          <a:ln/>
        </p:spPr>
        <p:txBody>
          <a:bodyPr wrap="square" lIns="0" tIns="0" rIns="0" bIns="0" rtlCol="0" anchor="t"/>
          <a:lstStyle/>
          <a:p>
            <a:pPr indent="0" marL="0">
              <a:buNone/>
            </a:pPr>
            <a:r>
              <a:rPr lang="en-US" sz="1300" b="1" dirty="0">
                <a:solidFill>
                  <a:srgbClr val="0B2545"/>
                </a:solidFill>
                <a:latin typeface="Times New Roman" pitchFamily="34" charset="0"/>
                <a:ea typeface="Times New Roman" pitchFamily="34" charset="-122"/>
                <a:cs typeface="Times New Roman" pitchFamily="34" charset="-120"/>
              </a:rPr>
              <a:t>Depends on satellite reception</a:t>
            </a:r>
            <a:endParaRPr lang="en-US" sz="1300" dirty="0"/>
          </a:p>
        </p:txBody>
      </p:sp>
      <p:sp>
        <p:nvSpPr>
          <p:cNvPr id="38" name="Text 36"/>
          <p:cNvSpPr txBox="1"/>
          <p:nvPr/>
        </p:nvSpPr>
        <p:spPr>
          <a:xfrm>
            <a:off x="3474720" y="3639312"/>
            <a:ext cx="2286000" cy="822960"/>
          </a:xfrm>
          <a:prstGeom prst="rect">
            <a:avLst/>
          </a:prstGeom>
          <a:noFill/>
          <a:ln/>
        </p:spPr>
        <p:txBody>
          <a:bodyPr wrap="square" lIns="0" tIns="0" rIns="0" bIns="0" rtlCol="0" anchor="t"/>
          <a:lstStyle/>
          <a:p>
            <a:pPr indent="0" marL="0">
              <a:buNone/>
            </a:pPr>
            <a:r>
              <a:rPr lang="en-US" sz="1400" dirty="0">
                <a:solidFill>
                  <a:srgbClr val="1E293B"/>
                </a:solidFill>
                <a:latin typeface="Times New Roman" pitchFamily="34" charset="0"/>
                <a:ea typeface="Times New Roman" pitchFamily="34" charset="-122"/>
                <a:cs typeface="Times New Roman" pitchFamily="34" charset="-120"/>
              </a:rPr>
              <a:t>Location data is available only when the module receives satellite signals.</a:t>
            </a:r>
            <a:endParaRPr lang="en-US" sz="1400" dirty="0"/>
          </a:p>
        </p:txBody>
      </p:sp>
      <p:sp>
        <p:nvSpPr>
          <p:cNvPr id="39" name="Shape 37"/>
          <p:cNvSpPr/>
          <p:nvPr/>
        </p:nvSpPr>
        <p:spPr>
          <a:xfrm>
            <a:off x="6035040" y="3017520"/>
            <a:ext cx="2651760" cy="1508760"/>
          </a:xfrm>
          <a:prstGeom prst="roundRect">
            <a:avLst>
              <a:gd name="adj" fmla="val 4848"/>
            </a:avLst>
          </a:prstGeom>
          <a:solidFill>
            <a:srgbClr val="FFFFFF"/>
          </a:solidFill>
          <a:ln w="9525">
            <a:solidFill>
              <a:srgbClr val="D5DEE8"/>
            </a:solidFill>
            <a:prstDash val="solid"/>
          </a:ln>
        </p:spPr>
      </p:sp>
      <p:sp>
        <p:nvSpPr>
          <p:cNvPr id="40" name="Shape 38"/>
          <p:cNvSpPr/>
          <p:nvPr/>
        </p:nvSpPr>
        <p:spPr>
          <a:xfrm>
            <a:off x="6035040" y="3017520"/>
            <a:ext cx="73152" cy="1508760"/>
          </a:xfrm>
          <a:prstGeom prst="rect">
            <a:avLst/>
          </a:prstGeom>
          <a:solidFill>
            <a:srgbClr val="13A89E"/>
          </a:solidFill>
          <a:ln w="9525">
            <a:solidFill>
              <a:srgbClr val="13A89E"/>
            </a:solidFill>
            <a:prstDash val="solid"/>
          </a:ln>
        </p:spPr>
      </p:sp>
      <p:sp>
        <p:nvSpPr>
          <p:cNvPr id="41" name="Text 39"/>
          <p:cNvSpPr txBox="1"/>
          <p:nvPr/>
        </p:nvSpPr>
        <p:spPr>
          <a:xfrm>
            <a:off x="6263640" y="3127248"/>
            <a:ext cx="2286000" cy="457200"/>
          </a:xfrm>
          <a:prstGeom prst="rect">
            <a:avLst/>
          </a:prstGeom>
          <a:noFill/>
          <a:ln/>
        </p:spPr>
        <p:txBody>
          <a:bodyPr wrap="square" lIns="0" tIns="0" rIns="0" bIns="0" rtlCol="0" anchor="t"/>
          <a:lstStyle/>
          <a:p>
            <a:pPr indent="0" marL="0">
              <a:buNone/>
            </a:pPr>
            <a:r>
              <a:rPr lang="en-US" sz="1300" b="1" dirty="0">
                <a:solidFill>
                  <a:srgbClr val="0B2545"/>
                </a:solidFill>
                <a:latin typeface="Times New Roman" pitchFamily="34" charset="0"/>
                <a:ea typeface="Times New Roman" pitchFamily="34" charset="-122"/>
                <a:cs typeface="Times New Roman" pitchFamily="34" charset="-120"/>
              </a:rPr>
              <a:t>Combining is programmed behavior</a:t>
            </a:r>
            <a:endParaRPr lang="en-US" sz="1300" dirty="0"/>
          </a:p>
        </p:txBody>
      </p:sp>
      <p:sp>
        <p:nvSpPr>
          <p:cNvPr id="42" name="Text 40"/>
          <p:cNvSpPr txBox="1"/>
          <p:nvPr/>
        </p:nvSpPr>
        <p:spPr>
          <a:xfrm>
            <a:off x="6263640" y="3639312"/>
            <a:ext cx="2286000" cy="822960"/>
          </a:xfrm>
          <a:prstGeom prst="rect">
            <a:avLst/>
          </a:prstGeom>
          <a:noFill/>
          <a:ln/>
        </p:spPr>
        <p:txBody>
          <a:bodyPr wrap="square" lIns="0" tIns="0" rIns="0" bIns="0" rtlCol="0" anchor="t"/>
          <a:lstStyle/>
          <a:p>
            <a:pPr indent="0" marL="0">
              <a:buNone/>
            </a:pPr>
            <a:r>
              <a:rPr lang="en-US" sz="1400" dirty="0">
                <a:solidFill>
                  <a:srgbClr val="1E293B"/>
                </a:solidFill>
                <a:latin typeface="Times New Roman" pitchFamily="34" charset="0"/>
                <a:ea typeface="Times New Roman" pitchFamily="34" charset="-122"/>
                <a:cs typeface="Times New Roman" pitchFamily="34" charset="-120"/>
              </a:rPr>
              <a:t>Joining SOS and GPS data is done by the program, not an automatic hardware property.</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3A89E"/>
          </a:solidFill>
          <a:ln w="9525">
            <a:solidFill>
              <a:srgbClr val="13A89E"/>
            </a:solidFill>
            <a:prstDash val="solid"/>
          </a:ln>
        </p:spPr>
      </p:sp>
      <p:sp>
        <p:nvSpPr>
          <p:cNvPr id="3" name="Text 1"/>
          <p:cNvSpPr txBox="1"/>
          <p:nvPr/>
        </p:nvSpPr>
        <p:spPr>
          <a:xfrm>
            <a:off x="457200" y="228600"/>
            <a:ext cx="8229600" cy="457200"/>
          </a:xfrm>
          <a:prstGeom prst="rect">
            <a:avLst/>
          </a:prstGeom>
          <a:noFill/>
          <a:ln/>
        </p:spPr>
        <p:txBody>
          <a:bodyPr wrap="square" lIns="0" tIns="0" rIns="0" bIns="0" rtlCol="0" anchor="ctr"/>
          <a:lstStyle/>
          <a:p>
            <a:pPr indent="0" marL="0">
              <a:buNone/>
            </a:pPr>
            <a:r>
              <a:rPr lang="en-US" sz="2400" b="1" dirty="0">
                <a:solidFill>
                  <a:srgbClr val="0B2545"/>
                </a:solidFill>
                <a:latin typeface="Times New Roman" pitchFamily="34" charset="0"/>
                <a:ea typeface="Times New Roman" pitchFamily="34" charset="-122"/>
                <a:cs typeface="Times New Roman" pitchFamily="34" charset="-120"/>
              </a:rPr>
              <a:t>USB Communication</a:t>
            </a:r>
            <a:endParaRPr lang="en-US" sz="2400" dirty="0"/>
          </a:p>
        </p:txBody>
      </p:sp>
      <p:sp>
        <p:nvSpPr>
          <p:cNvPr id="4" name="Text 2"/>
          <p:cNvSpPr txBox="1"/>
          <p:nvPr/>
        </p:nvSpPr>
        <p:spPr>
          <a:xfrm>
            <a:off x="457200" y="685800"/>
            <a:ext cx="8229600" cy="274320"/>
          </a:xfrm>
          <a:prstGeom prst="rect">
            <a:avLst/>
          </a:prstGeom>
          <a:noFill/>
          <a:ln/>
        </p:spPr>
        <p:txBody>
          <a:bodyPr wrap="square" lIns="0" tIns="0" rIns="0" bIns="0" rtlCol="0" anchor="t"/>
          <a:lstStyle/>
          <a:p>
            <a:pPr indent="0" marL="0">
              <a:buNone/>
            </a:pPr>
            <a:r>
              <a:rPr lang="en-US" sz="1400" dirty="0">
                <a:solidFill>
                  <a:srgbClr val="64748B"/>
                </a:solidFill>
                <a:latin typeface="Times New Roman" pitchFamily="34" charset="0"/>
                <a:ea typeface="Times New Roman" pitchFamily="34" charset="-122"/>
                <a:cs typeface="Times New Roman" pitchFamily="34" charset="-120"/>
              </a:rPr>
              <a:t>The current data-transfer method in this prototype</a:t>
            </a:r>
            <a:endParaRPr lang="en-US" sz="1400" dirty="0"/>
          </a:p>
        </p:txBody>
      </p:sp>
      <p:sp>
        <p:nvSpPr>
          <p:cNvPr id="5" name="Text 3"/>
          <p:cNvSpPr txBox="1"/>
          <p:nvPr/>
        </p:nvSpPr>
        <p:spPr>
          <a:xfrm>
            <a:off x="457200" y="4828032"/>
            <a:ext cx="6400800" cy="228600"/>
          </a:xfrm>
          <a:prstGeom prst="rect">
            <a:avLst/>
          </a:prstGeom>
          <a:noFill/>
          <a:ln/>
        </p:spPr>
        <p:txBody>
          <a:bodyPr wrap="square" lIns="0" tIns="0" rIns="0" bIns="0" rtlCol="0" anchor="t"/>
          <a:lstStyle/>
          <a:p>
            <a:pPr indent="0" marL="0">
              <a:buNone/>
            </a:pPr>
            <a:r>
              <a:rPr lang="en-US" sz="900" dirty="0">
                <a:solidFill>
                  <a:srgbClr val="64748B"/>
                </a:solidFill>
                <a:latin typeface="Times New Roman" pitchFamily="34" charset="0"/>
                <a:ea typeface="Times New Roman" pitchFamily="34" charset="-122"/>
                <a:cs typeface="Times New Roman" pitchFamily="34" charset="-120"/>
              </a:rPr>
              <a:t>IoT-Based Smart Women’s Safety Belt  |  Hardware Implementation</a:t>
            </a:r>
            <a:endParaRPr lang="en-US" sz="900" dirty="0"/>
          </a:p>
        </p:txBody>
      </p:sp>
      <p:sp>
        <p:nvSpPr>
          <p:cNvPr id="6" name="Text 4"/>
          <p:cNvSpPr txBox="1"/>
          <p:nvPr/>
        </p:nvSpPr>
        <p:spPr>
          <a:xfrm>
            <a:off x="8229600" y="4828032"/>
            <a:ext cx="457200" cy="228600"/>
          </a:xfrm>
          <a:prstGeom prst="rect">
            <a:avLst/>
          </a:prstGeom>
          <a:noFill/>
          <a:ln/>
        </p:spPr>
        <p:txBody>
          <a:bodyPr wrap="square" lIns="0" tIns="0" rIns="0" bIns="0" rtlCol="0" anchor="t"/>
          <a:lstStyle/>
          <a:p>
            <a:pPr algn="r" indent="0" marL="0">
              <a:buNone/>
            </a:pPr>
            <a:r>
              <a:rPr lang="en-US" sz="900" dirty="0">
                <a:solidFill>
                  <a:srgbClr val="64748B"/>
                </a:solidFill>
                <a:latin typeface="Times New Roman" pitchFamily="34" charset="0"/>
                <a:ea typeface="Times New Roman" pitchFamily="34" charset="-122"/>
                <a:cs typeface="Times New Roman" pitchFamily="34" charset="-120"/>
              </a:rPr>
              <a:t>9</a:t>
            </a:r>
            <a:endParaRPr lang="en-US" sz="900" dirty="0"/>
          </a:p>
        </p:txBody>
      </p:sp>
      <p:sp>
        <p:nvSpPr>
          <p:cNvPr id="7" name="Shape 5"/>
          <p:cNvSpPr/>
          <p:nvPr/>
        </p:nvSpPr>
        <p:spPr>
          <a:xfrm>
            <a:off x="457200" y="1280160"/>
            <a:ext cx="4297680" cy="3291840"/>
          </a:xfrm>
          <a:prstGeom prst="roundRect">
            <a:avLst>
              <a:gd name="adj" fmla="val 2222"/>
            </a:avLst>
          </a:prstGeom>
          <a:solidFill>
            <a:srgbClr val="FFFFFF"/>
          </a:solidFill>
          <a:ln w="9525">
            <a:solidFill>
              <a:srgbClr val="D5DEE8"/>
            </a:solidFill>
            <a:prstDash val="solid"/>
          </a:ln>
        </p:spPr>
      </p:sp>
      <p:pic>
        <p:nvPicPr>
          <p:cNvPr id="8" name="Image 0" descr="laptop 3D illustration">    </p:cNvPr>
          <p:cNvPicPr>
            <a:picLocks noChangeAspect="1"/>
          </p:cNvPicPr>
          <p:nvPr/>
        </p:nvPicPr>
        <p:blipFill>
          <a:blip r:embed="rId1"/>
          <a:stretch>
            <a:fillRect/>
          </a:stretch>
        </p:blipFill>
        <p:spPr>
          <a:xfrm>
            <a:off x="685800" y="1989674"/>
            <a:ext cx="1828800" cy="1872813"/>
          </a:xfrm>
          <a:prstGeom prst="rect">
            <a:avLst/>
          </a:prstGeom>
        </p:spPr>
      </p:pic>
      <p:sp>
        <p:nvSpPr>
          <p:cNvPr id="9" name="Shape 6"/>
          <p:cNvSpPr/>
          <p:nvPr/>
        </p:nvSpPr>
        <p:spPr>
          <a:xfrm>
            <a:off x="2514600" y="3200400"/>
            <a:ext cx="594360" cy="0"/>
          </a:xfrm>
          <a:prstGeom prst="line">
            <a:avLst/>
          </a:prstGeom>
          <a:noFill/>
          <a:ln w="50800">
            <a:solidFill>
              <a:srgbClr val="2B4C7E"/>
            </a:solidFill>
            <a:prstDash val="solid"/>
          </a:ln>
        </p:spPr>
      </p:sp>
      <p:pic>
        <p:nvPicPr>
          <p:cNvPr id="10" name="Image 1" descr="esp 3D illustration">    </p:cNvPr>
          <p:cNvPicPr>
            <a:picLocks noChangeAspect="1"/>
          </p:cNvPicPr>
          <p:nvPr/>
        </p:nvPicPr>
        <p:blipFill>
          <a:blip r:embed="rId2"/>
          <a:stretch>
            <a:fillRect/>
          </a:stretch>
        </p:blipFill>
        <p:spPr>
          <a:xfrm>
            <a:off x="3064091" y="2651760"/>
            <a:ext cx="1552777" cy="1097280"/>
          </a:xfrm>
          <a:prstGeom prst="rect">
            <a:avLst/>
          </a:prstGeom>
        </p:spPr>
      </p:pic>
      <p:sp>
        <p:nvSpPr>
          <p:cNvPr id="11" name="Text 7"/>
          <p:cNvSpPr txBox="1"/>
          <p:nvPr/>
        </p:nvSpPr>
        <p:spPr>
          <a:xfrm>
            <a:off x="3017520" y="3840480"/>
            <a:ext cx="1645920" cy="228600"/>
          </a:xfrm>
          <a:prstGeom prst="rect">
            <a:avLst/>
          </a:prstGeom>
          <a:noFill/>
          <a:ln/>
        </p:spPr>
        <p:txBody>
          <a:bodyPr wrap="square" lIns="0" tIns="0" rIns="0" bIns="0" rtlCol="0" anchor="t"/>
          <a:lstStyle/>
          <a:p>
            <a:pPr algn="ctr" indent="0" marL="0">
              <a:buNone/>
            </a:pPr>
            <a:r>
              <a:rPr lang="en-US" sz="1100" b="1" dirty="0">
                <a:solidFill>
                  <a:srgbClr val="0B2545"/>
                </a:solidFill>
                <a:latin typeface="Times New Roman" pitchFamily="34" charset="0"/>
                <a:ea typeface="Times New Roman" pitchFamily="34" charset="-122"/>
                <a:cs typeface="Times New Roman" pitchFamily="34" charset="-120"/>
              </a:rPr>
              <a:t>ESP32-C3 SuperMini</a:t>
            </a:r>
            <a:endParaRPr lang="en-US" sz="1100" dirty="0"/>
          </a:p>
        </p:txBody>
      </p:sp>
      <p:sp>
        <p:nvSpPr>
          <p:cNvPr id="12" name="Text 8"/>
          <p:cNvSpPr txBox="1"/>
          <p:nvPr/>
        </p:nvSpPr>
        <p:spPr>
          <a:xfrm>
            <a:off x="2331720" y="3291840"/>
            <a:ext cx="914400" cy="228600"/>
          </a:xfrm>
          <a:prstGeom prst="rect">
            <a:avLst/>
          </a:prstGeom>
          <a:noFill/>
          <a:ln/>
        </p:spPr>
        <p:txBody>
          <a:bodyPr wrap="square" lIns="0" tIns="0" rIns="0" bIns="0" rtlCol="0" anchor="t"/>
          <a:lstStyle/>
          <a:p>
            <a:pPr algn="ctr" indent="0" marL="0">
              <a:buNone/>
            </a:pPr>
            <a:r>
              <a:rPr lang="en-US" sz="1050" b="1" dirty="0">
                <a:solidFill>
                  <a:srgbClr val="2B4C7E"/>
                </a:solidFill>
                <a:latin typeface="Times New Roman" pitchFamily="34" charset="0"/>
                <a:ea typeface="Times New Roman" pitchFamily="34" charset="-122"/>
                <a:cs typeface="Times New Roman" pitchFamily="34" charset="-120"/>
              </a:rPr>
              <a:t>USB cable</a:t>
            </a:r>
            <a:endParaRPr lang="en-US" sz="1050" dirty="0"/>
          </a:p>
        </p:txBody>
      </p:sp>
      <p:sp>
        <p:nvSpPr>
          <p:cNvPr id="13" name="Text 9"/>
          <p:cNvSpPr txBox="1"/>
          <p:nvPr/>
        </p:nvSpPr>
        <p:spPr>
          <a:xfrm>
            <a:off x="548640" y="1417320"/>
            <a:ext cx="4114800" cy="274320"/>
          </a:xfrm>
          <a:prstGeom prst="rect">
            <a:avLst/>
          </a:prstGeom>
          <a:noFill/>
          <a:ln/>
        </p:spPr>
        <p:txBody>
          <a:bodyPr wrap="square" lIns="0" tIns="0" rIns="0" bIns="0" rtlCol="0" anchor="t"/>
          <a:lstStyle/>
          <a:p>
            <a:pPr algn="ctr" indent="0" marL="0">
              <a:buNone/>
            </a:pPr>
            <a:r>
              <a:rPr lang="en-US" sz="1200" b="1" dirty="0">
                <a:solidFill>
                  <a:srgbClr val="0B2545"/>
                </a:solidFill>
                <a:latin typeface="Times New Roman" pitchFamily="34" charset="0"/>
                <a:ea typeface="Times New Roman" pitchFamily="34" charset="-122"/>
                <a:cs typeface="Times New Roman" pitchFamily="34" charset="-120"/>
              </a:rPr>
              <a:t>Serial data flows over USB</a:t>
            </a:r>
            <a:endParaRPr lang="en-US" sz="1200" dirty="0"/>
          </a:p>
        </p:txBody>
      </p:sp>
      <p:sp>
        <p:nvSpPr>
          <p:cNvPr id="14" name="Text 10"/>
          <p:cNvSpPr txBox="1"/>
          <p:nvPr/>
        </p:nvSpPr>
        <p:spPr>
          <a:xfrm>
            <a:off x="4983480" y="1280160"/>
            <a:ext cx="3703320" cy="3291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USB: Universal Serial Bus – a standard cable link for data (and power) between devices.</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Serial data: information sent as a stream of characters, one after another.</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Reception: the computer can read the ESP32-C3 data with a suitable serial monitor or application.</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Current method: USB is the only data-transfer path in this prototype.</a:t>
            </a:r>
            <a:endParaRPr lang="en-US" sz="1400" dirty="0"/>
          </a:p>
          <a:p>
            <a:pPr marL="342900" indent="-342900">
              <a:spcAft>
                <a:spcPts val="6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Scope: automatic delivery to a web backend is not claimed; it would need software to be built (future scope).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3A89E"/>
          </a:solidFill>
          <a:ln w="9525">
            <a:solidFill>
              <a:srgbClr val="13A89E"/>
            </a:solidFill>
            <a:prstDash val="solid"/>
          </a:ln>
        </p:spPr>
      </p:sp>
      <p:sp>
        <p:nvSpPr>
          <p:cNvPr id="3" name="Text 1"/>
          <p:cNvSpPr txBox="1"/>
          <p:nvPr/>
        </p:nvSpPr>
        <p:spPr>
          <a:xfrm>
            <a:off x="457200" y="228600"/>
            <a:ext cx="8229600" cy="457200"/>
          </a:xfrm>
          <a:prstGeom prst="rect">
            <a:avLst/>
          </a:prstGeom>
          <a:noFill/>
          <a:ln/>
        </p:spPr>
        <p:txBody>
          <a:bodyPr wrap="square" lIns="0" tIns="0" rIns="0" bIns="0" rtlCol="0" anchor="ctr"/>
          <a:lstStyle/>
          <a:p>
            <a:pPr indent="0" marL="0">
              <a:buNone/>
            </a:pPr>
            <a:r>
              <a:rPr lang="en-US" sz="2400" b="1" dirty="0">
                <a:solidFill>
                  <a:srgbClr val="0B2545"/>
                </a:solidFill>
                <a:latin typeface="Times New Roman" pitchFamily="34" charset="0"/>
                <a:ea typeface="Times New Roman" pitchFamily="34" charset="-122"/>
                <a:cs typeface="Times New Roman" pitchFamily="34" charset="-120"/>
              </a:rPr>
              <a:t>Benefits, Limitations and Future Scope</a:t>
            </a:r>
            <a:endParaRPr lang="en-US" sz="2400" dirty="0"/>
          </a:p>
        </p:txBody>
      </p:sp>
      <p:sp>
        <p:nvSpPr>
          <p:cNvPr id="4" name="Text 2"/>
          <p:cNvSpPr txBox="1"/>
          <p:nvPr/>
        </p:nvSpPr>
        <p:spPr>
          <a:xfrm>
            <a:off x="457200" y="4828032"/>
            <a:ext cx="6400800" cy="228600"/>
          </a:xfrm>
          <a:prstGeom prst="rect">
            <a:avLst/>
          </a:prstGeom>
          <a:noFill/>
          <a:ln/>
        </p:spPr>
        <p:txBody>
          <a:bodyPr wrap="square" lIns="0" tIns="0" rIns="0" bIns="0" rtlCol="0" anchor="t"/>
          <a:lstStyle/>
          <a:p>
            <a:pPr indent="0" marL="0">
              <a:buNone/>
            </a:pPr>
            <a:r>
              <a:rPr lang="en-US" sz="900" dirty="0">
                <a:solidFill>
                  <a:srgbClr val="64748B"/>
                </a:solidFill>
                <a:latin typeface="Times New Roman" pitchFamily="34" charset="0"/>
                <a:ea typeface="Times New Roman" pitchFamily="34" charset="-122"/>
                <a:cs typeface="Times New Roman" pitchFamily="34" charset="-120"/>
              </a:rPr>
              <a:t>IoT-Based Smart Women’s Safety Belt  |  Hardware Implementation</a:t>
            </a:r>
            <a:endParaRPr lang="en-US" sz="900" dirty="0"/>
          </a:p>
        </p:txBody>
      </p:sp>
      <p:sp>
        <p:nvSpPr>
          <p:cNvPr id="5" name="Text 3"/>
          <p:cNvSpPr txBox="1"/>
          <p:nvPr/>
        </p:nvSpPr>
        <p:spPr>
          <a:xfrm>
            <a:off x="8229600" y="4828032"/>
            <a:ext cx="457200" cy="228600"/>
          </a:xfrm>
          <a:prstGeom prst="rect">
            <a:avLst/>
          </a:prstGeom>
          <a:noFill/>
          <a:ln/>
        </p:spPr>
        <p:txBody>
          <a:bodyPr wrap="square" lIns="0" tIns="0" rIns="0" bIns="0" rtlCol="0" anchor="t"/>
          <a:lstStyle/>
          <a:p>
            <a:pPr algn="r" indent="0" marL="0">
              <a:buNone/>
            </a:pPr>
            <a:r>
              <a:rPr lang="en-US" sz="900" dirty="0">
                <a:solidFill>
                  <a:srgbClr val="64748B"/>
                </a:solidFill>
                <a:latin typeface="Times New Roman" pitchFamily="34" charset="0"/>
                <a:ea typeface="Times New Roman" pitchFamily="34" charset="-122"/>
                <a:cs typeface="Times New Roman" pitchFamily="34" charset="-120"/>
              </a:rPr>
              <a:t>10</a:t>
            </a:r>
            <a:endParaRPr lang="en-US" sz="900" dirty="0"/>
          </a:p>
        </p:txBody>
      </p:sp>
      <p:sp>
        <p:nvSpPr>
          <p:cNvPr id="6" name="Shape 4"/>
          <p:cNvSpPr/>
          <p:nvPr/>
        </p:nvSpPr>
        <p:spPr>
          <a:xfrm>
            <a:off x="457200" y="914400"/>
            <a:ext cx="2651760" cy="3749040"/>
          </a:xfrm>
          <a:prstGeom prst="roundRect">
            <a:avLst>
              <a:gd name="adj" fmla="val 2759"/>
            </a:avLst>
          </a:prstGeom>
          <a:solidFill>
            <a:srgbClr val="FFFFFF"/>
          </a:solidFill>
          <a:ln w="9525">
            <a:solidFill>
              <a:srgbClr val="D5DEE8"/>
            </a:solidFill>
            <a:prstDash val="solid"/>
          </a:ln>
        </p:spPr>
      </p:sp>
      <p:sp>
        <p:nvSpPr>
          <p:cNvPr id="7" name="Shape 5"/>
          <p:cNvSpPr/>
          <p:nvPr/>
        </p:nvSpPr>
        <p:spPr>
          <a:xfrm>
            <a:off x="457200" y="914400"/>
            <a:ext cx="2651760" cy="502920"/>
          </a:xfrm>
          <a:prstGeom prst="rect">
            <a:avLst/>
          </a:prstGeom>
          <a:solidFill>
            <a:srgbClr val="13A89E"/>
          </a:solidFill>
          <a:ln w="9525">
            <a:solidFill>
              <a:srgbClr val="13A89E"/>
            </a:solidFill>
            <a:prstDash val="solid"/>
          </a:ln>
        </p:spPr>
      </p:sp>
      <p:sp>
        <p:nvSpPr>
          <p:cNvPr id="8" name="Text 6"/>
          <p:cNvSpPr txBox="1"/>
          <p:nvPr/>
        </p:nvSpPr>
        <p:spPr>
          <a:xfrm>
            <a:off x="548640" y="914400"/>
            <a:ext cx="24688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Benefits</a:t>
            </a:r>
            <a:endParaRPr lang="en-US" sz="1300" dirty="0"/>
          </a:p>
        </p:txBody>
      </p:sp>
      <p:sp>
        <p:nvSpPr>
          <p:cNvPr id="9" name="Text 7"/>
          <p:cNvSpPr txBox="1"/>
          <p:nvPr/>
        </p:nvSpPr>
        <p:spPr>
          <a:xfrm>
            <a:off x="594360" y="1536192"/>
            <a:ext cx="2423160" cy="30632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Quick emergency input using a dedicated SOS button</a:t>
            </a:r>
            <a:endParaRPr lang="en-US" sz="1400" dirty="0"/>
          </a:p>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GPS-based location acquisition</a:t>
            </a:r>
            <a:endParaRPr lang="en-US" sz="1400" dirty="0"/>
          </a:p>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Motion sensing for fall detection (MPU6050)</a:t>
            </a:r>
            <a:endParaRPr lang="en-US" sz="1400" dirty="0"/>
          </a:p>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USB-based data transfer for prototype testing</a:t>
            </a:r>
            <a:endParaRPr lang="en-US" sz="1400" dirty="0"/>
          </a:p>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Compact microcontroller-based design</a:t>
            </a:r>
            <a:endParaRPr lang="en-US" sz="1400" dirty="0"/>
          </a:p>
        </p:txBody>
      </p:sp>
      <p:sp>
        <p:nvSpPr>
          <p:cNvPr id="10" name="Shape 8"/>
          <p:cNvSpPr/>
          <p:nvPr/>
        </p:nvSpPr>
        <p:spPr>
          <a:xfrm>
            <a:off x="3246120" y="914400"/>
            <a:ext cx="2651760" cy="3749040"/>
          </a:xfrm>
          <a:prstGeom prst="roundRect">
            <a:avLst>
              <a:gd name="adj" fmla="val 2759"/>
            </a:avLst>
          </a:prstGeom>
          <a:solidFill>
            <a:srgbClr val="FFFFFF"/>
          </a:solidFill>
          <a:ln w="9525">
            <a:solidFill>
              <a:srgbClr val="D5DEE8"/>
            </a:solidFill>
            <a:prstDash val="solid"/>
          </a:ln>
        </p:spPr>
      </p:sp>
      <p:sp>
        <p:nvSpPr>
          <p:cNvPr id="11" name="Shape 9"/>
          <p:cNvSpPr/>
          <p:nvPr/>
        </p:nvSpPr>
        <p:spPr>
          <a:xfrm>
            <a:off x="3246120" y="914400"/>
            <a:ext cx="2651760" cy="502920"/>
          </a:xfrm>
          <a:prstGeom prst="rect">
            <a:avLst/>
          </a:prstGeom>
          <a:solidFill>
            <a:srgbClr val="2B4C7E"/>
          </a:solidFill>
          <a:ln w="9525">
            <a:solidFill>
              <a:srgbClr val="2B4C7E"/>
            </a:solidFill>
            <a:prstDash val="solid"/>
          </a:ln>
        </p:spPr>
      </p:sp>
      <p:sp>
        <p:nvSpPr>
          <p:cNvPr id="12" name="Text 10"/>
          <p:cNvSpPr txBox="1"/>
          <p:nvPr/>
        </p:nvSpPr>
        <p:spPr>
          <a:xfrm>
            <a:off x="3337560" y="914400"/>
            <a:ext cx="24688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Limitations</a:t>
            </a:r>
            <a:endParaRPr lang="en-US" sz="1300" dirty="0"/>
          </a:p>
        </p:txBody>
      </p:sp>
      <p:sp>
        <p:nvSpPr>
          <p:cNvPr id="13" name="Text 11"/>
          <p:cNvSpPr txBox="1"/>
          <p:nvPr/>
        </p:nvSpPr>
        <p:spPr>
          <a:xfrm>
            <a:off x="3383280" y="1536192"/>
            <a:ext cx="2423160" cy="30632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Computer connection is required for the described USB data-transfer workflow</a:t>
            </a:r>
            <a:endParaRPr lang="en-US" sz="1400" dirty="0"/>
          </a:p>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GPS performance depends on satellite visibility</a:t>
            </a:r>
            <a:endParaRPr lang="en-US" sz="1400" dirty="0"/>
          </a:p>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USB transfer alone does not guarantee remote notification</a:t>
            </a:r>
            <a:endParaRPr lang="en-US" sz="1400" dirty="0"/>
          </a:p>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Actual performance depends on hardware connections and software implementation</a:t>
            </a:r>
            <a:endParaRPr lang="en-US" sz="1400" dirty="0"/>
          </a:p>
        </p:txBody>
      </p:sp>
      <p:sp>
        <p:nvSpPr>
          <p:cNvPr id="14" name="Shape 12"/>
          <p:cNvSpPr/>
          <p:nvPr/>
        </p:nvSpPr>
        <p:spPr>
          <a:xfrm>
            <a:off x="6035040" y="914400"/>
            <a:ext cx="2651760" cy="3749040"/>
          </a:xfrm>
          <a:prstGeom prst="roundRect">
            <a:avLst>
              <a:gd name="adj" fmla="val 2759"/>
            </a:avLst>
          </a:prstGeom>
          <a:solidFill>
            <a:srgbClr val="FFFFFF"/>
          </a:solidFill>
          <a:ln w="9525">
            <a:solidFill>
              <a:srgbClr val="D5DEE8"/>
            </a:solidFill>
            <a:prstDash val="solid"/>
          </a:ln>
        </p:spPr>
      </p:sp>
      <p:sp>
        <p:nvSpPr>
          <p:cNvPr id="15" name="Shape 13"/>
          <p:cNvSpPr/>
          <p:nvPr/>
        </p:nvSpPr>
        <p:spPr>
          <a:xfrm>
            <a:off x="6035040" y="914400"/>
            <a:ext cx="2651760" cy="502920"/>
          </a:xfrm>
          <a:prstGeom prst="rect">
            <a:avLst/>
          </a:prstGeom>
          <a:solidFill>
            <a:srgbClr val="0B2545"/>
          </a:solidFill>
          <a:ln w="9525">
            <a:solidFill>
              <a:srgbClr val="0B2545"/>
            </a:solidFill>
            <a:prstDash val="solid"/>
          </a:ln>
        </p:spPr>
      </p:sp>
      <p:sp>
        <p:nvSpPr>
          <p:cNvPr id="16" name="Text 14"/>
          <p:cNvSpPr txBox="1"/>
          <p:nvPr/>
        </p:nvSpPr>
        <p:spPr>
          <a:xfrm>
            <a:off x="6126480" y="914400"/>
            <a:ext cx="24688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Future Scope (not implemented)</a:t>
            </a:r>
            <a:endParaRPr lang="en-US" sz="1300" dirty="0"/>
          </a:p>
        </p:txBody>
      </p:sp>
      <p:sp>
        <p:nvSpPr>
          <p:cNvPr id="17" name="Text 15"/>
          <p:cNvSpPr txBox="1"/>
          <p:nvPr/>
        </p:nvSpPr>
        <p:spPr>
          <a:xfrm>
            <a:off x="6172200" y="1536192"/>
            <a:ext cx="2423160" cy="30632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Integrate a suitable independent power source</a:t>
            </a:r>
            <a:endParaRPr lang="en-US" sz="1400" dirty="0"/>
          </a:p>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Add an appropriate communication method for remote emergency notifications</a:t>
            </a:r>
            <a:endParaRPr lang="en-US" sz="1400" dirty="0"/>
          </a:p>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Develop a secure dashboard and trusted-contact notification system</a:t>
            </a:r>
            <a:endParaRPr lang="en-US" sz="1400" dirty="0"/>
          </a:p>
          <a:p>
            <a:pPr marL="342900" indent="-342900">
              <a:spcAft>
                <a:spcPts val="300"/>
              </a:spcAft>
              <a:buSzPct val="100000"/>
              <a:buChar char="•"/>
            </a:pPr>
            <a:r>
              <a:rPr lang="en-US" sz="1400" dirty="0">
                <a:solidFill>
                  <a:srgbClr val="1E293B"/>
                </a:solidFill>
                <a:latin typeface="Times New Roman" pitchFamily="34" charset="0"/>
                <a:ea typeface="Times New Roman" pitchFamily="34" charset="-122"/>
                <a:cs typeface="Times New Roman" pitchFamily="34" charset="-120"/>
              </a:rPr>
              <a:t>Improve wearable enclosure and concealment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3A89E"/>
          </a:solidFill>
          <a:ln w="9525">
            <a:solidFill>
              <a:srgbClr val="13A89E"/>
            </a:solidFill>
            <a:prstDash val="solid"/>
          </a:ln>
        </p:spPr>
      </p:sp>
      <p:sp>
        <p:nvSpPr>
          <p:cNvPr id="3" name="Text 1"/>
          <p:cNvSpPr txBox="1"/>
          <p:nvPr/>
        </p:nvSpPr>
        <p:spPr>
          <a:xfrm>
            <a:off x="457200" y="228600"/>
            <a:ext cx="8229600" cy="457200"/>
          </a:xfrm>
          <a:prstGeom prst="rect">
            <a:avLst/>
          </a:prstGeom>
          <a:noFill/>
          <a:ln/>
        </p:spPr>
        <p:txBody>
          <a:bodyPr wrap="square" lIns="0" tIns="0" rIns="0" bIns="0" rtlCol="0" anchor="ctr"/>
          <a:lstStyle/>
          <a:p>
            <a:pPr indent="0" marL="0">
              <a:buNone/>
            </a:pPr>
            <a:r>
              <a:rPr lang="en-US" sz="2400" b="1" dirty="0">
                <a:solidFill>
                  <a:srgbClr val="0B2545"/>
                </a:solidFill>
                <a:latin typeface="Times New Roman" pitchFamily="34" charset="0"/>
                <a:ea typeface="Times New Roman" pitchFamily="34" charset="-122"/>
                <a:cs typeface="Times New Roman" pitchFamily="34" charset="-120"/>
              </a:rPr>
              <a:t>Conclusion</a:t>
            </a:r>
            <a:endParaRPr lang="en-US" sz="2400" dirty="0"/>
          </a:p>
        </p:txBody>
      </p:sp>
      <p:sp>
        <p:nvSpPr>
          <p:cNvPr id="4" name="Text 2"/>
          <p:cNvSpPr txBox="1"/>
          <p:nvPr/>
        </p:nvSpPr>
        <p:spPr>
          <a:xfrm>
            <a:off x="457200" y="685800"/>
            <a:ext cx="8229600" cy="274320"/>
          </a:xfrm>
          <a:prstGeom prst="rect">
            <a:avLst/>
          </a:prstGeom>
          <a:noFill/>
          <a:ln/>
        </p:spPr>
        <p:txBody>
          <a:bodyPr wrap="square" lIns="0" tIns="0" rIns="0" bIns="0" rtlCol="0" anchor="t"/>
          <a:lstStyle/>
          <a:p>
            <a:pPr indent="0" marL="0">
              <a:buNone/>
            </a:pPr>
            <a:r>
              <a:rPr lang="en-US" sz="1400" dirty="0">
                <a:solidFill>
                  <a:srgbClr val="64748B"/>
                </a:solidFill>
                <a:latin typeface="Times New Roman" pitchFamily="34" charset="0"/>
                <a:ea typeface="Times New Roman" pitchFamily="34" charset="-122"/>
                <a:cs typeface="Times New Roman" pitchFamily="34" charset="-120"/>
              </a:rPr>
              <a:t>The hardware foundation of the safety belt prototype</a:t>
            </a:r>
            <a:endParaRPr lang="en-US" sz="1400" dirty="0"/>
          </a:p>
        </p:txBody>
      </p:sp>
      <p:sp>
        <p:nvSpPr>
          <p:cNvPr id="5" name="Text 3"/>
          <p:cNvSpPr txBox="1"/>
          <p:nvPr/>
        </p:nvSpPr>
        <p:spPr>
          <a:xfrm>
            <a:off x="457200" y="4828032"/>
            <a:ext cx="6400800" cy="228600"/>
          </a:xfrm>
          <a:prstGeom prst="rect">
            <a:avLst/>
          </a:prstGeom>
          <a:noFill/>
          <a:ln/>
        </p:spPr>
        <p:txBody>
          <a:bodyPr wrap="square" lIns="0" tIns="0" rIns="0" bIns="0" rtlCol="0" anchor="t"/>
          <a:lstStyle/>
          <a:p>
            <a:pPr indent="0" marL="0">
              <a:buNone/>
            </a:pPr>
            <a:r>
              <a:rPr lang="en-US" sz="900" dirty="0">
                <a:solidFill>
                  <a:srgbClr val="64748B"/>
                </a:solidFill>
                <a:latin typeface="Times New Roman" pitchFamily="34" charset="0"/>
                <a:ea typeface="Times New Roman" pitchFamily="34" charset="-122"/>
                <a:cs typeface="Times New Roman" pitchFamily="34" charset="-120"/>
              </a:rPr>
              <a:t>IoT-Based Smart Women’s Safety Belt  |  Hardware Implementation</a:t>
            </a:r>
            <a:endParaRPr lang="en-US" sz="900" dirty="0"/>
          </a:p>
        </p:txBody>
      </p:sp>
      <p:sp>
        <p:nvSpPr>
          <p:cNvPr id="6" name="Text 4"/>
          <p:cNvSpPr txBox="1"/>
          <p:nvPr/>
        </p:nvSpPr>
        <p:spPr>
          <a:xfrm>
            <a:off x="8229600" y="4828032"/>
            <a:ext cx="457200" cy="228600"/>
          </a:xfrm>
          <a:prstGeom prst="rect">
            <a:avLst/>
          </a:prstGeom>
          <a:noFill/>
          <a:ln/>
        </p:spPr>
        <p:txBody>
          <a:bodyPr wrap="square" lIns="0" tIns="0" rIns="0" bIns="0" rtlCol="0" anchor="t"/>
          <a:lstStyle/>
          <a:p>
            <a:pPr algn="r" indent="0" marL="0">
              <a:buNone/>
            </a:pPr>
            <a:r>
              <a:rPr lang="en-US" sz="900" dirty="0">
                <a:solidFill>
                  <a:srgbClr val="64748B"/>
                </a:solidFill>
                <a:latin typeface="Times New Roman" pitchFamily="34" charset="0"/>
                <a:ea typeface="Times New Roman" pitchFamily="34" charset="-122"/>
                <a:cs typeface="Times New Roman" pitchFamily="34" charset="-120"/>
              </a:rPr>
              <a:t>11</a:t>
            </a:r>
            <a:endParaRPr lang="en-US" sz="900" dirty="0"/>
          </a:p>
        </p:txBody>
      </p:sp>
      <p:sp>
        <p:nvSpPr>
          <p:cNvPr id="401" name="Shape 5"/>
          <p:cNvSpPr/>
          <p:nvPr/>
        </p:nvSpPr>
        <p:spPr>
          <a:xfrm>
            <a:off x="457200" y="1234440"/>
            <a:ext cx="1517904" cy="2377440"/>
          </a:xfrm>
          <a:prstGeom prst="roundRect">
            <a:avLst>
              <a:gd name="adj" fmla="val 3810"/>
            </a:avLst>
          </a:prstGeom>
          <a:solidFill>
            <a:srgbClr val="FFFFFF"/>
          </a:solidFill>
          <a:ln w="9525">
            <a:solidFill>
              <a:srgbClr val="D5DEE8"/>
            </a:solidFill>
            <a:prstDash val="solid"/>
          </a:ln>
        </p:spPr>
      </p:sp>
      <p:sp>
        <p:nvSpPr>
          <p:cNvPr id="402" name="Shape 6"/>
          <p:cNvSpPr/>
          <p:nvPr/>
        </p:nvSpPr>
        <p:spPr>
          <a:xfrm>
            <a:off x="457200" y="1234440"/>
            <a:ext cx="1517904" cy="73152"/>
          </a:xfrm>
          <a:prstGeom prst="rect">
            <a:avLst/>
          </a:prstGeom>
          <a:solidFill>
            <a:srgbClr val="13A89E"/>
          </a:solidFill>
          <a:ln w="9525">
            <a:solidFill>
              <a:srgbClr val="13A89E"/>
            </a:solidFill>
            <a:prstDash val="solid"/>
          </a:ln>
        </p:spPr>
      </p:sp>
      <p:sp>
        <p:nvSpPr>
          <p:cNvPr id="403" name="Text 7"/>
          <p:cNvSpPr txBox="1"/>
          <p:nvPr/>
        </p:nvSpPr>
        <p:spPr>
          <a:xfrm>
            <a:off x="566928" y="1417320"/>
            <a:ext cx="1298448" cy="457200"/>
          </a:xfrm>
          <a:prstGeom prst="rect">
            <a:avLst/>
          </a:prstGeom>
          <a:noFill/>
          <a:ln/>
        </p:spPr>
        <p:txBody>
          <a:bodyPr wrap="square" lIns="0" tIns="0" rIns="0" bIns="0" rtlCol="0" anchor="t"/>
          <a:lstStyle/>
          <a:p>
            <a:pPr indent="0" marL="0">
              <a:buNone/>
            </a:pPr>
            <a:r>
              <a:rPr lang="en-US" sz="1300" b="1" dirty="0">
                <a:solidFill>
                  <a:srgbClr val="0B2545"/>
                </a:solidFill>
                <a:latin typeface="Times New Roman" pitchFamily="34" charset="0"/>
                <a:ea typeface="Times New Roman" pitchFamily="34" charset="-122"/>
                <a:cs typeface="Times New Roman" pitchFamily="34" charset="-120"/>
              </a:rPr>
              <a:t>SOS Button</a:t>
            </a:r>
            <a:endParaRPr lang="en-US" sz="1300" dirty="0"/>
          </a:p>
        </p:txBody>
      </p:sp>
      <p:sp>
        <p:nvSpPr>
          <p:cNvPr id="404" name="Text 8"/>
          <p:cNvSpPr txBox="1"/>
          <p:nvPr/>
        </p:nvSpPr>
        <p:spPr>
          <a:xfrm>
            <a:off x="566928" y="1938528"/>
            <a:ext cx="1298448" cy="411480"/>
          </a:xfrm>
          <a:prstGeom prst="rect">
            <a:avLst/>
          </a:prstGeom>
          <a:noFill/>
          <a:ln/>
        </p:spPr>
        <p:txBody>
          <a:bodyPr wrap="square" lIns="0" tIns="0" rIns="0" bIns="0" rtlCol="0" anchor="t"/>
          <a:lstStyle/>
          <a:p>
            <a:pPr indent="0" marL="0">
              <a:buNone/>
            </a:pPr>
            <a:r>
              <a:rPr lang="en-US" sz="1200" b="1" dirty="0">
                <a:solidFill>
                  <a:srgbClr val="0F766E"/>
                </a:solidFill>
                <a:latin typeface="Times New Roman" pitchFamily="34" charset="0"/>
                <a:ea typeface="Times New Roman" pitchFamily="34" charset="-122"/>
                <a:cs typeface="Times New Roman" pitchFamily="34" charset="-120"/>
              </a:rPr>
              <a:t>Emergency input</a:t>
            </a:r>
            <a:endParaRPr lang="en-US" sz="1200" dirty="0"/>
          </a:p>
        </p:txBody>
      </p:sp>
      <p:sp>
        <p:nvSpPr>
          <p:cNvPr id="405" name="Text 9"/>
          <p:cNvSpPr txBox="1"/>
          <p:nvPr/>
        </p:nvSpPr>
        <p:spPr>
          <a:xfrm>
            <a:off x="566928" y="2450592"/>
            <a:ext cx="1298448" cy="1280160"/>
          </a:xfrm>
          <a:prstGeom prst="rect">
            <a:avLst/>
          </a:prstGeom>
          <a:noFill/>
          <a:ln/>
        </p:spPr>
        <p:txBody>
          <a:bodyPr wrap="square" lIns="0" tIns="0" rIns="0" bIns="0" rtlCol="0" anchor="t"/>
          <a:lstStyle/>
          <a:p>
            <a:pPr indent="0" marL="0">
              <a:buNone/>
            </a:pPr>
            <a:r>
              <a:rPr lang="en-US" sz="1250" dirty="0">
                <a:solidFill>
                  <a:srgbClr val="1E293B"/>
                </a:solidFill>
                <a:latin typeface="Times New Roman" pitchFamily="34" charset="0"/>
                <a:ea typeface="Times New Roman" pitchFamily="34" charset="-122"/>
                <a:cs typeface="Times New Roman" pitchFamily="34" charset="-120"/>
              </a:rPr>
              <a:t>The wearer presses the hidden button to give the input signal.</a:t>
            </a:r>
            <a:endParaRPr lang="en-US" sz="1250" dirty="0"/>
          </a:p>
        </p:txBody>
      </p:sp>
      <p:sp>
        <p:nvSpPr>
          <p:cNvPr id="406" name="Shape 10"/>
          <p:cNvSpPr/>
          <p:nvPr/>
        </p:nvSpPr>
        <p:spPr>
          <a:xfrm>
            <a:off x="2135124" y="1234440"/>
            <a:ext cx="1517904" cy="2377440"/>
          </a:xfrm>
          <a:prstGeom prst="roundRect">
            <a:avLst>
              <a:gd name="adj" fmla="val 3810"/>
            </a:avLst>
          </a:prstGeom>
          <a:solidFill>
            <a:srgbClr val="FFFFFF"/>
          </a:solidFill>
          <a:ln w="9525">
            <a:solidFill>
              <a:srgbClr val="D5DEE8"/>
            </a:solidFill>
            <a:prstDash val="solid"/>
          </a:ln>
        </p:spPr>
      </p:sp>
      <p:sp>
        <p:nvSpPr>
          <p:cNvPr id="407" name="Shape 11"/>
          <p:cNvSpPr/>
          <p:nvPr/>
        </p:nvSpPr>
        <p:spPr>
          <a:xfrm>
            <a:off x="2135124" y="1234440"/>
            <a:ext cx="1517904" cy="73152"/>
          </a:xfrm>
          <a:prstGeom prst="rect">
            <a:avLst/>
          </a:prstGeom>
          <a:solidFill>
            <a:srgbClr val="13A89E"/>
          </a:solidFill>
          <a:ln w="9525">
            <a:solidFill>
              <a:srgbClr val="13A89E"/>
            </a:solidFill>
            <a:prstDash val="solid"/>
          </a:ln>
        </p:spPr>
      </p:sp>
      <p:sp>
        <p:nvSpPr>
          <p:cNvPr id="408" name="Text 12"/>
          <p:cNvSpPr txBox="1"/>
          <p:nvPr/>
        </p:nvSpPr>
        <p:spPr>
          <a:xfrm>
            <a:off x="2244852" y="1417320"/>
            <a:ext cx="1298448" cy="457200"/>
          </a:xfrm>
          <a:prstGeom prst="rect">
            <a:avLst/>
          </a:prstGeom>
          <a:noFill/>
          <a:ln/>
        </p:spPr>
        <p:txBody>
          <a:bodyPr wrap="square" lIns="0" tIns="0" rIns="0" bIns="0" rtlCol="0" anchor="t"/>
          <a:lstStyle/>
          <a:p>
            <a:pPr indent="0" marL="0">
              <a:buNone/>
            </a:pPr>
            <a:r>
              <a:rPr lang="en-US" sz="1300" b="1" dirty="0">
                <a:solidFill>
                  <a:srgbClr val="0B2545"/>
                </a:solidFill>
                <a:latin typeface="Times New Roman" pitchFamily="34" charset="0"/>
                <a:ea typeface="Times New Roman" pitchFamily="34" charset="-122"/>
                <a:cs typeface="Times New Roman" pitchFamily="34" charset="-120"/>
              </a:rPr>
              <a:t>GPS Module</a:t>
            </a:r>
            <a:endParaRPr lang="en-US" sz="1300" dirty="0"/>
          </a:p>
        </p:txBody>
      </p:sp>
      <p:sp>
        <p:nvSpPr>
          <p:cNvPr id="409" name="Text 13"/>
          <p:cNvSpPr txBox="1"/>
          <p:nvPr/>
        </p:nvSpPr>
        <p:spPr>
          <a:xfrm>
            <a:off x="2244852" y="1938528"/>
            <a:ext cx="1298448" cy="411480"/>
          </a:xfrm>
          <a:prstGeom prst="rect">
            <a:avLst/>
          </a:prstGeom>
          <a:noFill/>
          <a:ln/>
        </p:spPr>
        <p:txBody>
          <a:bodyPr wrap="square" lIns="0" tIns="0" rIns="0" bIns="0" rtlCol="0" anchor="t"/>
          <a:lstStyle/>
          <a:p>
            <a:pPr indent="0" marL="0">
              <a:buNone/>
            </a:pPr>
            <a:r>
              <a:rPr lang="en-US" sz="1200" b="1" dirty="0">
                <a:solidFill>
                  <a:srgbClr val="0F766E"/>
                </a:solidFill>
                <a:latin typeface="Times New Roman" pitchFamily="34" charset="0"/>
                <a:ea typeface="Times New Roman" pitchFamily="34" charset="-122"/>
                <a:cs typeface="Times New Roman" pitchFamily="34" charset="-120"/>
              </a:rPr>
              <a:t>Location acquisition</a:t>
            </a:r>
            <a:endParaRPr lang="en-US" sz="1200" dirty="0"/>
          </a:p>
        </p:txBody>
      </p:sp>
      <p:sp>
        <p:nvSpPr>
          <p:cNvPr id="410" name="Text 14"/>
          <p:cNvSpPr txBox="1"/>
          <p:nvPr/>
        </p:nvSpPr>
        <p:spPr>
          <a:xfrm>
            <a:off x="2244852" y="2450592"/>
            <a:ext cx="1298448" cy="1280160"/>
          </a:xfrm>
          <a:prstGeom prst="rect">
            <a:avLst/>
          </a:prstGeom>
          <a:noFill/>
          <a:ln/>
        </p:spPr>
        <p:txBody>
          <a:bodyPr wrap="square" lIns="0" tIns="0" rIns="0" bIns="0" rtlCol="0" anchor="t"/>
          <a:lstStyle/>
          <a:p>
            <a:pPr indent="0" marL="0">
              <a:buNone/>
            </a:pPr>
            <a:r>
              <a:rPr lang="en-US" sz="1250" dirty="0">
                <a:solidFill>
                  <a:srgbClr val="1E293B"/>
                </a:solidFill>
                <a:latin typeface="Times New Roman" pitchFamily="34" charset="0"/>
                <a:ea typeface="Times New Roman" pitchFamily="34" charset="-122"/>
                <a:cs typeface="Times New Roman" pitchFamily="34" charset="-120"/>
              </a:rPr>
              <a:t>Calculates latitude and longitude from satellite signals.</a:t>
            </a:r>
            <a:endParaRPr lang="en-US" sz="1250" dirty="0"/>
          </a:p>
        </p:txBody>
      </p:sp>
      <p:sp>
        <p:nvSpPr>
          <p:cNvPr id="411" name="Shape 10"/>
          <p:cNvSpPr/>
          <p:nvPr/>
        </p:nvSpPr>
        <p:spPr>
          <a:xfrm>
            <a:off x="3813048" y="1234440"/>
            <a:ext cx="1517904" cy="2377440"/>
          </a:xfrm>
          <a:prstGeom prst="roundRect">
            <a:avLst>
              <a:gd name="adj" fmla="val 3810"/>
            </a:avLst>
          </a:prstGeom>
          <a:solidFill>
            <a:srgbClr val="FFFFFF"/>
          </a:solidFill>
          <a:ln w="9525">
            <a:solidFill>
              <a:srgbClr val="D5DEE8"/>
            </a:solidFill>
            <a:prstDash val="solid"/>
          </a:ln>
        </p:spPr>
      </p:sp>
      <p:sp>
        <p:nvSpPr>
          <p:cNvPr id="412" name="Shape 11"/>
          <p:cNvSpPr/>
          <p:nvPr/>
        </p:nvSpPr>
        <p:spPr>
          <a:xfrm>
            <a:off x="3813048" y="1234440"/>
            <a:ext cx="1517904" cy="73152"/>
          </a:xfrm>
          <a:prstGeom prst="rect">
            <a:avLst/>
          </a:prstGeom>
          <a:solidFill>
            <a:srgbClr val="13A89E"/>
          </a:solidFill>
          <a:ln w="9525">
            <a:solidFill>
              <a:srgbClr val="13A89E"/>
            </a:solidFill>
            <a:prstDash val="solid"/>
          </a:ln>
        </p:spPr>
      </p:sp>
      <p:sp>
        <p:nvSpPr>
          <p:cNvPr id="413" name="Text 12"/>
          <p:cNvSpPr txBox="1"/>
          <p:nvPr/>
        </p:nvSpPr>
        <p:spPr>
          <a:xfrm>
            <a:off x="3922776" y="1417320"/>
            <a:ext cx="1298448" cy="457200"/>
          </a:xfrm>
          <a:prstGeom prst="rect">
            <a:avLst/>
          </a:prstGeom>
          <a:noFill/>
          <a:ln/>
        </p:spPr>
        <p:txBody>
          <a:bodyPr wrap="square" lIns="0" tIns="0" rIns="0" bIns="0" rtlCol="0" anchor="t"/>
          <a:lstStyle/>
          <a:p>
            <a:pPr indent="0" marL="0">
              <a:buNone/>
            </a:pPr>
            <a:r>
              <a:rPr lang="en-US" sz="1300" b="1" dirty="0">
                <a:solidFill>
                  <a:srgbClr val="0B2545"/>
                </a:solidFill>
                <a:latin typeface="Times New Roman" pitchFamily="34" charset="0"/>
                <a:ea typeface="Times New Roman" pitchFamily="34" charset="-122"/>
                <a:cs typeface="Times New Roman" pitchFamily="34" charset="-120"/>
              </a:rPr>
              <a:t>MPU6050 Sensor</a:t>
            </a:r>
            <a:endParaRPr lang="en-US" sz="1300" dirty="0"/>
          </a:p>
        </p:txBody>
      </p:sp>
      <p:sp>
        <p:nvSpPr>
          <p:cNvPr id="414" name="Text 13"/>
          <p:cNvSpPr txBox="1"/>
          <p:nvPr/>
        </p:nvSpPr>
        <p:spPr>
          <a:xfrm>
            <a:off x="3922776" y="1938528"/>
            <a:ext cx="1298448" cy="411480"/>
          </a:xfrm>
          <a:prstGeom prst="rect">
            <a:avLst/>
          </a:prstGeom>
          <a:noFill/>
          <a:ln/>
        </p:spPr>
        <p:txBody>
          <a:bodyPr wrap="square" lIns="0" tIns="0" rIns="0" bIns="0" rtlCol="0" anchor="t"/>
          <a:lstStyle/>
          <a:p>
            <a:pPr indent="0" marL="0">
              <a:buNone/>
            </a:pPr>
            <a:r>
              <a:rPr lang="en-US" sz="1200" b="1" dirty="0">
                <a:solidFill>
                  <a:srgbClr val="0F766E"/>
                </a:solidFill>
                <a:latin typeface="Times New Roman" pitchFamily="34" charset="0"/>
                <a:ea typeface="Times New Roman" pitchFamily="34" charset="-122"/>
                <a:cs typeface="Times New Roman" pitchFamily="34" charset="-120"/>
              </a:rPr>
              <a:t>Motion sensing</a:t>
            </a:r>
            <a:endParaRPr lang="en-US" sz="1200" dirty="0"/>
          </a:p>
        </p:txBody>
      </p:sp>
      <p:sp>
        <p:nvSpPr>
          <p:cNvPr id="415" name="Text 14"/>
          <p:cNvSpPr txBox="1"/>
          <p:nvPr/>
        </p:nvSpPr>
        <p:spPr>
          <a:xfrm>
            <a:off x="3922776" y="2450592"/>
            <a:ext cx="1298448" cy="1280160"/>
          </a:xfrm>
          <a:prstGeom prst="rect">
            <a:avLst/>
          </a:prstGeom>
          <a:noFill/>
          <a:ln/>
        </p:spPr>
        <p:txBody>
          <a:bodyPr wrap="square" lIns="0" tIns="0" rIns="0" bIns="0" rtlCol="0" anchor="t"/>
          <a:lstStyle/>
          <a:p>
            <a:pPr indent="0" marL="0">
              <a:buNone/>
            </a:pPr>
            <a:r>
              <a:rPr lang="en-US" sz="1250" dirty="0">
                <a:solidFill>
                  <a:srgbClr val="1E293B"/>
                </a:solidFill>
                <a:latin typeface="Times New Roman" pitchFamily="34" charset="0"/>
                <a:ea typeface="Times New Roman" pitchFamily="34" charset="-122"/>
                <a:cs typeface="Times New Roman" pitchFamily="34" charset="-120"/>
              </a:rPr>
              <a:t>Measures acceleration and rotation so the program can detect a fall.</a:t>
            </a:r>
            <a:endParaRPr lang="en-US" sz="1250" dirty="0"/>
          </a:p>
        </p:txBody>
      </p:sp>
      <p:sp>
        <p:nvSpPr>
          <p:cNvPr id="416" name="Shape 15"/>
          <p:cNvSpPr/>
          <p:nvPr/>
        </p:nvSpPr>
        <p:spPr>
          <a:xfrm>
            <a:off x="5490972" y="1234440"/>
            <a:ext cx="1517904" cy="2377440"/>
          </a:xfrm>
          <a:prstGeom prst="roundRect">
            <a:avLst>
              <a:gd name="adj" fmla="val 3810"/>
            </a:avLst>
          </a:prstGeom>
          <a:solidFill>
            <a:srgbClr val="FFFFFF"/>
          </a:solidFill>
          <a:ln w="9525">
            <a:solidFill>
              <a:srgbClr val="D5DEE8"/>
            </a:solidFill>
            <a:prstDash val="solid"/>
          </a:ln>
        </p:spPr>
      </p:sp>
      <p:sp>
        <p:nvSpPr>
          <p:cNvPr id="417" name="Shape 16"/>
          <p:cNvSpPr/>
          <p:nvPr/>
        </p:nvSpPr>
        <p:spPr>
          <a:xfrm>
            <a:off x="5490972" y="1234440"/>
            <a:ext cx="1517904" cy="73152"/>
          </a:xfrm>
          <a:prstGeom prst="rect">
            <a:avLst/>
          </a:prstGeom>
          <a:solidFill>
            <a:srgbClr val="13A89E"/>
          </a:solidFill>
          <a:ln w="9525">
            <a:solidFill>
              <a:srgbClr val="13A89E"/>
            </a:solidFill>
            <a:prstDash val="solid"/>
          </a:ln>
        </p:spPr>
      </p:sp>
      <p:sp>
        <p:nvSpPr>
          <p:cNvPr id="418" name="Text 17"/>
          <p:cNvSpPr txBox="1"/>
          <p:nvPr/>
        </p:nvSpPr>
        <p:spPr>
          <a:xfrm>
            <a:off x="5600700" y="1417320"/>
            <a:ext cx="1298448" cy="457200"/>
          </a:xfrm>
          <a:prstGeom prst="rect">
            <a:avLst/>
          </a:prstGeom>
          <a:noFill/>
          <a:ln/>
        </p:spPr>
        <p:txBody>
          <a:bodyPr wrap="square" lIns="0" tIns="0" rIns="0" bIns="0" rtlCol="0" anchor="t"/>
          <a:lstStyle/>
          <a:p>
            <a:pPr indent="0" marL="0">
              <a:buNone/>
            </a:pPr>
            <a:r>
              <a:rPr lang="en-US" sz="1300" b="1" dirty="0">
                <a:solidFill>
                  <a:srgbClr val="0B2545"/>
                </a:solidFill>
                <a:latin typeface="Times New Roman" pitchFamily="34" charset="0"/>
                <a:ea typeface="Times New Roman" pitchFamily="34" charset="-122"/>
                <a:cs typeface="Times New Roman" pitchFamily="34" charset="-120"/>
              </a:rPr>
              <a:t>ESP32-C3 SuperMini</a:t>
            </a:r>
            <a:endParaRPr lang="en-US" sz="1300" dirty="0"/>
          </a:p>
        </p:txBody>
      </p:sp>
      <p:sp>
        <p:nvSpPr>
          <p:cNvPr id="419" name="Text 18"/>
          <p:cNvSpPr txBox="1"/>
          <p:nvPr/>
        </p:nvSpPr>
        <p:spPr>
          <a:xfrm>
            <a:off x="5600700" y="1938528"/>
            <a:ext cx="1298448" cy="411480"/>
          </a:xfrm>
          <a:prstGeom prst="rect">
            <a:avLst/>
          </a:prstGeom>
          <a:noFill/>
          <a:ln/>
        </p:spPr>
        <p:txBody>
          <a:bodyPr wrap="square" lIns="0" tIns="0" rIns="0" bIns="0" rtlCol="0" anchor="t"/>
          <a:lstStyle/>
          <a:p>
            <a:pPr indent="0" marL="0">
              <a:buNone/>
            </a:pPr>
            <a:r>
              <a:rPr lang="en-US" sz="1200" b="1" dirty="0">
                <a:solidFill>
                  <a:srgbClr val="0F766E"/>
                </a:solidFill>
                <a:latin typeface="Times New Roman" pitchFamily="34" charset="0"/>
                <a:ea typeface="Times New Roman" pitchFamily="34" charset="-122"/>
                <a:cs typeface="Times New Roman" pitchFamily="34" charset="-120"/>
              </a:rPr>
              <a:t>Coordination</a:t>
            </a:r>
            <a:endParaRPr lang="en-US" sz="1200" dirty="0"/>
          </a:p>
        </p:txBody>
      </p:sp>
      <p:sp>
        <p:nvSpPr>
          <p:cNvPr id="420" name="Text 19"/>
          <p:cNvSpPr txBox="1"/>
          <p:nvPr/>
        </p:nvSpPr>
        <p:spPr>
          <a:xfrm>
            <a:off x="5600700" y="2450592"/>
            <a:ext cx="1298448" cy="1280160"/>
          </a:xfrm>
          <a:prstGeom prst="rect">
            <a:avLst/>
          </a:prstGeom>
          <a:noFill/>
          <a:ln/>
        </p:spPr>
        <p:txBody>
          <a:bodyPr wrap="square" lIns="0" tIns="0" rIns="0" bIns="0" rtlCol="0" anchor="t"/>
          <a:lstStyle/>
          <a:p>
            <a:pPr indent="0" marL="0">
              <a:buNone/>
            </a:pPr>
            <a:r>
              <a:rPr lang="en-US" sz="1250" dirty="0">
                <a:solidFill>
                  <a:srgbClr val="1E293B"/>
                </a:solidFill>
                <a:latin typeface="Times New Roman" pitchFamily="34" charset="0"/>
                <a:ea typeface="Times New Roman" pitchFamily="34" charset="-122"/>
                <a:cs typeface="Times New Roman" pitchFamily="34" charset="-120"/>
              </a:rPr>
              <a:t>Reads the button, reads GPS data and runs the program.</a:t>
            </a:r>
            <a:endParaRPr lang="en-US" sz="1250" dirty="0"/>
          </a:p>
        </p:txBody>
      </p:sp>
      <p:sp>
        <p:nvSpPr>
          <p:cNvPr id="421" name="Shape 20"/>
          <p:cNvSpPr/>
          <p:nvPr/>
        </p:nvSpPr>
        <p:spPr>
          <a:xfrm>
            <a:off x="7168896" y="1234440"/>
            <a:ext cx="1517904" cy="2377440"/>
          </a:xfrm>
          <a:prstGeom prst="roundRect">
            <a:avLst>
              <a:gd name="adj" fmla="val 3810"/>
            </a:avLst>
          </a:prstGeom>
          <a:solidFill>
            <a:srgbClr val="FFFFFF"/>
          </a:solidFill>
          <a:ln w="9525">
            <a:solidFill>
              <a:srgbClr val="D5DEE8"/>
            </a:solidFill>
            <a:prstDash val="solid"/>
          </a:ln>
        </p:spPr>
      </p:sp>
      <p:sp>
        <p:nvSpPr>
          <p:cNvPr id="422" name="Shape 21"/>
          <p:cNvSpPr/>
          <p:nvPr/>
        </p:nvSpPr>
        <p:spPr>
          <a:xfrm>
            <a:off x="7168896" y="1234440"/>
            <a:ext cx="1517904" cy="73152"/>
          </a:xfrm>
          <a:prstGeom prst="rect">
            <a:avLst/>
          </a:prstGeom>
          <a:solidFill>
            <a:srgbClr val="13A89E"/>
          </a:solidFill>
          <a:ln w="9525">
            <a:solidFill>
              <a:srgbClr val="13A89E"/>
            </a:solidFill>
            <a:prstDash val="solid"/>
          </a:ln>
        </p:spPr>
      </p:sp>
      <p:sp>
        <p:nvSpPr>
          <p:cNvPr id="423" name="Text 22"/>
          <p:cNvSpPr txBox="1"/>
          <p:nvPr/>
        </p:nvSpPr>
        <p:spPr>
          <a:xfrm>
            <a:off x="7278624" y="1417320"/>
            <a:ext cx="1298448" cy="457200"/>
          </a:xfrm>
          <a:prstGeom prst="rect">
            <a:avLst/>
          </a:prstGeom>
          <a:noFill/>
          <a:ln/>
        </p:spPr>
        <p:txBody>
          <a:bodyPr wrap="square" lIns="0" tIns="0" rIns="0" bIns="0" rtlCol="0" anchor="t"/>
          <a:lstStyle/>
          <a:p>
            <a:pPr indent="0" marL="0">
              <a:buNone/>
            </a:pPr>
            <a:r>
              <a:rPr lang="en-US" sz="1300" b="1" dirty="0">
                <a:solidFill>
                  <a:srgbClr val="0B2545"/>
                </a:solidFill>
                <a:latin typeface="Times New Roman" pitchFamily="34" charset="0"/>
                <a:ea typeface="Times New Roman" pitchFamily="34" charset="-122"/>
                <a:cs typeface="Times New Roman" pitchFamily="34" charset="-120"/>
              </a:rPr>
              <a:t>USB Cable</a:t>
            </a:r>
            <a:endParaRPr lang="en-US" sz="1300" dirty="0"/>
          </a:p>
        </p:txBody>
      </p:sp>
      <p:sp>
        <p:nvSpPr>
          <p:cNvPr id="424" name="Text 23"/>
          <p:cNvSpPr txBox="1"/>
          <p:nvPr/>
        </p:nvSpPr>
        <p:spPr>
          <a:xfrm>
            <a:off x="7278624" y="1938528"/>
            <a:ext cx="1298448" cy="411480"/>
          </a:xfrm>
          <a:prstGeom prst="rect">
            <a:avLst/>
          </a:prstGeom>
          <a:noFill/>
          <a:ln/>
        </p:spPr>
        <p:txBody>
          <a:bodyPr wrap="square" lIns="0" tIns="0" rIns="0" bIns="0" rtlCol="0" anchor="t"/>
          <a:lstStyle/>
          <a:p>
            <a:pPr indent="0" marL="0">
              <a:buNone/>
            </a:pPr>
            <a:r>
              <a:rPr lang="en-US" sz="1200" b="1" dirty="0">
                <a:solidFill>
                  <a:srgbClr val="0F766E"/>
                </a:solidFill>
                <a:latin typeface="Times New Roman" pitchFamily="34" charset="0"/>
                <a:ea typeface="Times New Roman" pitchFamily="34" charset="-122"/>
                <a:cs typeface="Times New Roman" pitchFamily="34" charset="-120"/>
              </a:rPr>
              <a:t>Data transfer</a:t>
            </a:r>
            <a:endParaRPr lang="en-US" sz="1200" dirty="0"/>
          </a:p>
        </p:txBody>
      </p:sp>
      <p:sp>
        <p:nvSpPr>
          <p:cNvPr id="425" name="Text 24"/>
          <p:cNvSpPr txBox="1"/>
          <p:nvPr/>
        </p:nvSpPr>
        <p:spPr>
          <a:xfrm>
            <a:off x="7278624" y="2450592"/>
            <a:ext cx="1298448" cy="1280160"/>
          </a:xfrm>
          <a:prstGeom prst="rect">
            <a:avLst/>
          </a:prstGeom>
          <a:noFill/>
          <a:ln/>
        </p:spPr>
        <p:txBody>
          <a:bodyPr wrap="square" lIns="0" tIns="0" rIns="0" bIns="0" rtlCol="0" anchor="t"/>
          <a:lstStyle/>
          <a:p>
            <a:pPr indent="0" marL="0">
              <a:buNone/>
            </a:pPr>
            <a:r>
              <a:rPr lang="en-US" sz="1250" dirty="0">
                <a:solidFill>
                  <a:srgbClr val="1E293B"/>
                </a:solidFill>
                <a:latin typeface="Times New Roman" pitchFamily="34" charset="0"/>
                <a:ea typeface="Times New Roman" pitchFamily="34" charset="-122"/>
                <a:cs typeface="Times New Roman" pitchFamily="34" charset="-120"/>
              </a:rPr>
              <a:t>Carries data to a computer for further processing.</a:t>
            </a:r>
            <a:endParaRPr lang="en-US" sz="1250" dirty="0"/>
          </a:p>
        </p:txBody>
      </p:sp>
      <p:sp>
        <p:nvSpPr>
          <p:cNvPr id="27" name="Shape 25"/>
          <p:cNvSpPr/>
          <p:nvPr/>
        </p:nvSpPr>
        <p:spPr>
          <a:xfrm>
            <a:off x="457200" y="3840480"/>
            <a:ext cx="8229600" cy="777240"/>
          </a:xfrm>
          <a:prstGeom prst="roundRect">
            <a:avLst>
              <a:gd name="adj" fmla="val 9412"/>
            </a:avLst>
          </a:prstGeom>
          <a:solidFill>
            <a:srgbClr val="0B2545"/>
          </a:solidFill>
          <a:ln w="9525">
            <a:solidFill>
              <a:srgbClr val="0B2545"/>
            </a:solidFill>
            <a:prstDash val="solid"/>
          </a:ln>
        </p:spPr>
      </p:sp>
      <p:sp>
        <p:nvSpPr>
          <p:cNvPr id="28" name="Text 26"/>
          <p:cNvSpPr txBox="1"/>
          <p:nvPr/>
        </p:nvSpPr>
        <p:spPr>
          <a:xfrm>
            <a:off x="685800" y="3840480"/>
            <a:ext cx="7772400" cy="777240"/>
          </a:xfrm>
          <a:prstGeom prst="rect">
            <a:avLst/>
          </a:prstGeom>
          <a:noFill/>
          <a:ln/>
        </p:spPr>
        <p:txBody>
          <a:bodyPr wrap="square" lIns="0" tIns="0" rIns="0" bIns="0" rtlCol="0" anchor="ctr"/>
          <a:lstStyle/>
          <a:p>
            <a:pPr indent="0" marL="0">
              <a:buNone/>
            </a:pPr>
            <a:r>
              <a:rPr lang="en-US" sz="1400" dirty="0">
                <a:solidFill>
                  <a:srgbClr val="FFFFFF"/>
                </a:solidFill>
                <a:latin typeface="Times New Roman" pitchFamily="34" charset="0"/>
                <a:ea typeface="Times New Roman" pitchFamily="34" charset="-122"/>
                <a:cs typeface="Times New Roman" pitchFamily="34" charset="-120"/>
              </a:rPr>
              <a:t>Together they form the hardware base of the prototype. Remote notification and trusted-contact alerts remain future scope.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